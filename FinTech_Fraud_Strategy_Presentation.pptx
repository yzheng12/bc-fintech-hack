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directly aligns the analytical approach to the hackathon constraint.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FinTech Fraud Hackathon Student Brief and EDA_report.md.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explanation simple: Transfer is the highest-rate category, but Cash Out contributes nearly as many fraud cases.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/analysis_outputs/EDA_report.md and fraud_by_transaction_type.csv.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127A-7C53-E59C-6B52-C33E3FA1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A58B5-5EC6-B76E-8927-C4E7581F5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E5B04-8441-2643-F764-AAAD5CD2A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explanation simple: Transfer is the highest-rate category, but Cash Out contributes nearly as many fraud cases.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/analysis_outputs/EDA_report.md and fraud_by_transaction_type.csv.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52AF1-7B67-C5E6-7F86-C8E12395A1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518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central narrative is hybridization: the rule gives an interpretable baseline; ML earns its place only if it improves the queue.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EDA_report.md, “High-signal behavioral patterns” and “What this means for the 1% investigation constraint.”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judges through the lifecycle at a business level. The operational output is a ranked queue, not a generic classifier label.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Phase 2 Proof-of-Concept: MDLC Architecture.md and phase_2_fraud_poc.ipynb.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why the feature policy matters: raw IDs have high cardinality and are not a credible generalization story.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Phase 2 MDLC Architecture.md and phase_2_fraud_poc.ipynb.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Strategy A is not less sophisticated; it is the correct business recommendation because the added amount weighting produced no additional queue benefit.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screenshot of strategy comparison, dated 2026-08-15.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one business recommendation. Avoid claiming production-ready rates; these are POC results from a synthetic dataset.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strategy comparison screenshot and test_data.csv row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deployment path is intentionally staged: prove operational value, deploy the simple winning policy, and then make the system learn from investigators.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phase plan in the request and Phase 2 MDLC 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the decision, not a generic thank you. State that production monitoring is part of the recommendation, not an afterthought.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hackathon brief, EDA_report.md, and Phase 2 MDLC 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11BB36D-F2E7-4E6F-95B1-BA1DABED2E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DESCRIBE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0201B-C6F9-43ED-9729-47F308E5C381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decision is triage—not just classification.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7DA3A-5E52-4CBA-A30A-C51475945C0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Investigators can review approximately 1% of transactions. The job is to make that queue count.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7B58A-0FCD-4155-8220-FE673C48EE1E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B32E1D3-2BDA-4CD0-82B5-28B22114DBF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ADCA71-07CE-4C3D-A28F-F4B4BA1228F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7150" cy="10668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F16BE4-1792-4907-830C-9956BF54EB0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509,009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CAEF2-FCD5-42D3-A332-782D3E700884}"/>
              </a:ext>
            </a:extLst>
          </p:cNvPr>
          <p:cNvSpPr>
            <a:spLocks noGrp="1"/>
          </p:cNvSpPr>
          <p:nvPr/>
        </p:nvSpPr>
        <p:spPr>
          <a:xfrm>
            <a:off x="914400" y="28479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historical transactions analyzed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CCA7FB-BA41-42EB-A904-F35F5500E736}"/>
              </a:ext>
            </a:extLst>
          </p:cNvPr>
          <p:cNvSpPr>
            <a:spLocks noGrp="1"/>
          </p:cNvSpPr>
          <p:nvPr/>
        </p:nvSpPr>
        <p:spPr>
          <a:xfrm>
            <a:off x="3276600" y="22098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2A1727-36C1-44E4-97E5-5B0976621779}"/>
              </a:ext>
            </a:extLst>
          </p:cNvPr>
          <p:cNvSpPr>
            <a:spLocks noGrp="1"/>
          </p:cNvSpPr>
          <p:nvPr/>
        </p:nvSpPr>
        <p:spPr>
          <a:xfrm>
            <a:off x="3276600" y="2209800"/>
            <a:ext cx="57150" cy="1066800"/>
          </a:xfrm>
          <a:prstGeom prst="rect">
            <a:avLst/>
          </a:prstGeom>
          <a:solidFill>
            <a:srgbClr val="E45757"/>
          </a:solidFill>
          <a:ln w="0">
            <a:solidFill>
              <a:srgbClr val="E4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6AED0-506C-4FA8-AD82-C01DBA84B816}"/>
              </a:ext>
            </a:extLst>
          </p:cNvPr>
          <p:cNvSpPr>
            <a:spLocks noGrp="1"/>
          </p:cNvSpPr>
          <p:nvPr/>
        </p:nvSpPr>
        <p:spPr>
          <a:xfrm>
            <a:off x="3505200" y="23812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654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64770-AF8A-444E-B98D-0C2DC560F4A7}"/>
              </a:ext>
            </a:extLst>
          </p:cNvPr>
          <p:cNvSpPr>
            <a:spLocks noGrp="1"/>
          </p:cNvSpPr>
          <p:nvPr/>
        </p:nvSpPr>
        <p:spPr>
          <a:xfrm>
            <a:off x="3505200" y="28479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labeled fraud cases in training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7C3854-31E9-42D2-B2B9-DD1679CBA8FE}"/>
              </a:ext>
            </a:extLst>
          </p:cNvPr>
          <p:cNvSpPr>
            <a:spLocks noGrp="1"/>
          </p:cNvSpPr>
          <p:nvPr/>
        </p:nvSpPr>
        <p:spPr>
          <a:xfrm>
            <a:off x="5867400" y="22098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4DDFB-AC94-4A28-A1F1-26C1CE77D4B7}"/>
              </a:ext>
            </a:extLst>
          </p:cNvPr>
          <p:cNvSpPr>
            <a:spLocks noGrp="1"/>
          </p:cNvSpPr>
          <p:nvPr/>
        </p:nvSpPr>
        <p:spPr>
          <a:xfrm>
            <a:off x="5867400" y="2209800"/>
            <a:ext cx="57150" cy="1066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1E7194-CBFE-4FAD-9AB5-3DDDE67D318C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0.128%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99324B-6B1F-4BA3-A3C4-73A26C158110}"/>
              </a:ext>
            </a:extLst>
          </p:cNvPr>
          <p:cNvSpPr>
            <a:spLocks noGrp="1"/>
          </p:cNvSpPr>
          <p:nvPr/>
        </p:nvSpPr>
        <p:spPr>
          <a:xfrm>
            <a:off x="6096000" y="28479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sample fraud rate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3381EB-69E4-4CB5-AF20-432871E08D80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8B65D4-9D47-4746-9DC0-FDE75BD7F9E6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57150" cy="1066800"/>
          </a:xfrm>
          <a:prstGeom prst="rect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F888E5-5B9B-49C3-B96C-69E060B4182E}"/>
              </a:ext>
            </a:extLst>
          </p:cNvPr>
          <p:cNvSpPr>
            <a:spLocks noGrp="1"/>
          </p:cNvSpPr>
          <p:nvPr/>
        </p:nvSpPr>
        <p:spPr>
          <a:xfrm>
            <a:off x="8686800" y="23812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1%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03DDA6-5E31-49D5-A6AD-530B088DB842}"/>
              </a:ext>
            </a:extLst>
          </p:cNvPr>
          <p:cNvSpPr>
            <a:spLocks noGrp="1"/>
          </p:cNvSpPr>
          <p:nvPr/>
        </p:nvSpPr>
        <p:spPr>
          <a:xfrm>
            <a:off x="8686800" y="28479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maximum review capacity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054A9C-5981-41A8-B415-F9C233A11EE8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1536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D6EB42-2740-4C5E-92DA-75B14673007E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Core question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A150FB-CD67-48DC-8EF6-31D9840D974D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847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How can the company concentrate the maximum actionable fraud risk</a:t>
            </a:r>
          </a:p>
          <a:p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inside a fixed 1% investigator queue?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E71B96-7F5F-454D-8EDD-E962D342222D}"/>
              </a:ext>
            </a:extLst>
          </p:cNvPr>
          <p:cNvSpPr>
            <a:spLocks noGrp="1"/>
          </p:cNvSpPr>
          <p:nvPr/>
        </p:nvSpPr>
        <p:spPr>
          <a:xfrm>
            <a:off x="990600" y="51435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Success is measured by Recall@1%, Precision@1%, Lift@1%, and fraud-value recall—not accuracy alone.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B2849B-0AE9-46DA-AA46-6736E30D157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975FDE-52D0-46C0-BF6D-2FDDE52592F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Describe · Capacity-constrained fraud prioritization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A402BA-8B96-43C1-98E0-B69BD6558A2E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155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A796212-9814-43B1-9BAD-E032080D22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 dirty="0">
                <a:solidFill>
                  <a:srgbClr val="1F6FEB"/>
                </a:solidFill>
              </a:rPr>
              <a:t>ALIGN</a:t>
            </a:r>
            <a:r>
              <a:rPr lang="en-US" sz="1050" b="1" dirty="0">
                <a:solidFill>
                  <a:srgbClr val="1F6FEB"/>
                </a:solidFill>
              </a:rPr>
              <a:t> &amp; INVESTIGATE</a:t>
            </a:r>
            <a:endParaRPr sz="1050" b="1" dirty="0">
              <a:solidFill>
                <a:srgbClr val="1F6FEB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DC4D7-2896-4F58-A926-F86D366F1C58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Fraud is behavioral—and highly concentrated.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1CEAE-5E6D-4156-AD59-25CAA6D815E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The data point to transaction behavior and balance dynamics, not raw account identity, as the useful signals.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1F51D6-C187-4985-AD04-9BAB6B75DAF1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A4FE3-7F82-4E8A-919C-65CB831EA8A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Fraud rate by transaction 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78DAC1-1DF0-4393-A234-E0221DC962B8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TRANSFER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BAF4CC-8152-4BB3-A588-B8ED9C94547A}"/>
              </a:ext>
            </a:extLst>
          </p:cNvPr>
          <p:cNvSpPr>
            <a:spLocks noGrp="1"/>
          </p:cNvSpPr>
          <p:nvPr/>
        </p:nvSpPr>
        <p:spPr>
          <a:xfrm>
            <a:off x="1866900" y="2638425"/>
            <a:ext cx="3905250" cy="152400"/>
          </a:xfrm>
          <a:prstGeom prst="roundRect">
            <a:avLst>
              <a:gd name="adj" fmla="val 50000"/>
            </a:avLst>
          </a:prstGeom>
          <a:solidFill>
            <a:srgbClr val="E7EDF5"/>
          </a:solidFill>
          <a:ln w="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0BA90A-C320-4A38-9E5D-FF1187294F5E}"/>
              </a:ext>
            </a:extLst>
          </p:cNvPr>
          <p:cNvSpPr>
            <a:spLocks noGrp="1"/>
          </p:cNvSpPr>
          <p:nvPr/>
        </p:nvSpPr>
        <p:spPr>
          <a:xfrm>
            <a:off x="1866900" y="2638425"/>
            <a:ext cx="2871502" cy="1524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C94D7-AC00-4D44-8110-F406D802F63B}"/>
              </a:ext>
            </a:extLst>
          </p:cNvPr>
          <p:cNvSpPr>
            <a:spLocks noGrp="1"/>
          </p:cNvSpPr>
          <p:nvPr/>
        </p:nvSpPr>
        <p:spPr>
          <a:xfrm>
            <a:off x="5905500" y="26003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0.773%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7499C2-025C-4F5A-95C6-FD438AB0630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CASH_OUT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009868-34F3-4D16-B1CF-65354EAAD925}"/>
              </a:ext>
            </a:extLst>
          </p:cNvPr>
          <p:cNvSpPr>
            <a:spLocks noGrp="1"/>
          </p:cNvSpPr>
          <p:nvPr/>
        </p:nvSpPr>
        <p:spPr>
          <a:xfrm>
            <a:off x="1866900" y="3095625"/>
            <a:ext cx="3905250" cy="152400"/>
          </a:xfrm>
          <a:prstGeom prst="roundRect">
            <a:avLst>
              <a:gd name="adj" fmla="val 50000"/>
            </a:avLst>
          </a:prstGeom>
          <a:solidFill>
            <a:srgbClr val="E7EDF5"/>
          </a:solidFill>
          <a:ln w="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38B59F-20B6-46CA-A4E2-CAF8B35953F4}"/>
              </a:ext>
            </a:extLst>
          </p:cNvPr>
          <p:cNvSpPr>
            <a:spLocks noGrp="1"/>
          </p:cNvSpPr>
          <p:nvPr/>
        </p:nvSpPr>
        <p:spPr>
          <a:xfrm>
            <a:off x="1866900" y="3095625"/>
            <a:ext cx="668655" cy="152400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53EDB7-0738-47BD-BA73-FF207FA33B67}"/>
              </a:ext>
            </a:extLst>
          </p:cNvPr>
          <p:cNvSpPr>
            <a:spLocks noGrp="1"/>
          </p:cNvSpPr>
          <p:nvPr/>
        </p:nvSpPr>
        <p:spPr>
          <a:xfrm>
            <a:off x="5905500" y="30575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0.180%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E8B9D8-EE9B-46A4-89F4-C6A82EC04642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CASH_IN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34BA91-EE21-4882-B973-146CC69B14AD}"/>
              </a:ext>
            </a:extLst>
          </p:cNvPr>
          <p:cNvSpPr>
            <a:spLocks noGrp="1"/>
          </p:cNvSpPr>
          <p:nvPr/>
        </p:nvSpPr>
        <p:spPr>
          <a:xfrm>
            <a:off x="1866900" y="3552825"/>
            <a:ext cx="3905250" cy="152400"/>
          </a:xfrm>
          <a:prstGeom prst="roundRect">
            <a:avLst>
              <a:gd name="adj" fmla="val 50000"/>
            </a:avLst>
          </a:prstGeom>
          <a:solidFill>
            <a:srgbClr val="E7EDF5"/>
          </a:solidFill>
          <a:ln w="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08CB79-01D0-4494-8D71-29E4D1DAABB5}"/>
              </a:ext>
            </a:extLst>
          </p:cNvPr>
          <p:cNvSpPr>
            <a:spLocks noGrp="1"/>
          </p:cNvSpPr>
          <p:nvPr/>
        </p:nvSpPr>
        <p:spPr>
          <a:xfrm>
            <a:off x="5905500" y="35147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0.000%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4C2A50-026A-4D8A-AC18-5A39A2960A56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DEBIT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9F6757D-7137-43F2-8D98-A287CD2988FC}"/>
              </a:ext>
            </a:extLst>
          </p:cNvPr>
          <p:cNvSpPr>
            <a:spLocks noGrp="1"/>
          </p:cNvSpPr>
          <p:nvPr/>
        </p:nvSpPr>
        <p:spPr>
          <a:xfrm>
            <a:off x="1866900" y="4010025"/>
            <a:ext cx="3905250" cy="152400"/>
          </a:xfrm>
          <a:prstGeom prst="roundRect">
            <a:avLst>
              <a:gd name="adj" fmla="val 50000"/>
            </a:avLst>
          </a:prstGeom>
          <a:solidFill>
            <a:srgbClr val="E7EDF5"/>
          </a:solidFill>
          <a:ln w="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F3802-0860-4D93-B9A5-A609C590B58C}"/>
              </a:ext>
            </a:extLst>
          </p:cNvPr>
          <p:cNvSpPr>
            <a:spLocks noGrp="1"/>
          </p:cNvSpPr>
          <p:nvPr/>
        </p:nvSpPr>
        <p:spPr>
          <a:xfrm>
            <a:off x="5905500" y="39719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0.000%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BC9DEC-80D5-42E7-AE61-C8541AB7EBF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95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PAYMENT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AEB00F-0E38-43C4-9A43-01C509D68B10}"/>
              </a:ext>
            </a:extLst>
          </p:cNvPr>
          <p:cNvSpPr>
            <a:spLocks noGrp="1"/>
          </p:cNvSpPr>
          <p:nvPr/>
        </p:nvSpPr>
        <p:spPr>
          <a:xfrm>
            <a:off x="1866900" y="4467225"/>
            <a:ext cx="3905250" cy="152400"/>
          </a:xfrm>
          <a:prstGeom prst="roundRect">
            <a:avLst>
              <a:gd name="adj" fmla="val 50000"/>
            </a:avLst>
          </a:prstGeom>
          <a:solidFill>
            <a:srgbClr val="E7EDF5"/>
          </a:solidFill>
          <a:ln w="0">
            <a:solidFill>
              <a:srgbClr val="E7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8AF90B-8AA1-4EA8-9EFC-F27797DA2ED6}"/>
              </a:ext>
            </a:extLst>
          </p:cNvPr>
          <p:cNvSpPr>
            <a:spLocks noGrp="1"/>
          </p:cNvSpPr>
          <p:nvPr/>
        </p:nvSpPr>
        <p:spPr>
          <a:xfrm>
            <a:off x="5905500" y="44291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0.000%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DB78691-92A0-4984-AD4D-BE6E0CB19DD5}"/>
              </a:ext>
            </a:extLst>
          </p:cNvPr>
          <p:cNvSpPr>
            <a:spLocks noGrp="1"/>
          </p:cNvSpPr>
          <p:nvPr/>
        </p:nvSpPr>
        <p:spPr>
          <a:xfrm>
            <a:off x="7296150" y="2209800"/>
            <a:ext cx="3543300" cy="253365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CF1A4F-1044-4D81-967F-0C20D83516EE}"/>
              </a:ext>
            </a:extLst>
          </p:cNvPr>
          <p:cNvSpPr>
            <a:spLocks noGrp="1"/>
          </p:cNvSpPr>
          <p:nvPr/>
        </p:nvSpPr>
        <p:spPr>
          <a:xfrm>
            <a:off x="7600950" y="24955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EA5A5"/>
                </a:solidFill>
              </a:defRPr>
            </a:pPr>
            <a:r>
              <a:rPr sz="1050" b="1">
                <a:solidFill>
                  <a:srgbClr val="0EA5A5"/>
                </a:solidFill>
              </a:rPr>
              <a:t>WHAT THE EDA FOUND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120902-7160-47A1-A2AD-4F139E4FFD60}"/>
              </a:ext>
            </a:extLst>
          </p:cNvPr>
          <p:cNvSpPr>
            <a:spLocks noGrp="1"/>
          </p:cNvSpPr>
          <p:nvPr/>
        </p:nvSpPr>
        <p:spPr>
          <a:xfrm>
            <a:off x="7600950" y="2886075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100%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B25A8-03B5-4BA7-A524-7AA250067569}"/>
              </a:ext>
            </a:extLst>
          </p:cNvPr>
          <p:cNvSpPr>
            <a:spLocks noGrp="1"/>
          </p:cNvSpPr>
          <p:nvPr/>
        </p:nvSpPr>
        <p:spPr>
          <a:xfrm>
            <a:off x="7600950" y="33147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of labeled fraud occurs in</a:t>
            </a:r>
          </a:p>
          <a:p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TRANSFER or CASH_OUT.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0DFAEC-A075-484C-8210-181E955F2971}"/>
              </a:ext>
            </a:extLst>
          </p:cNvPr>
          <p:cNvSpPr>
            <a:spLocks noGrp="1"/>
          </p:cNvSpPr>
          <p:nvPr/>
        </p:nvSpPr>
        <p:spPr>
          <a:xfrm>
            <a:off x="7600950" y="3962400"/>
            <a:ext cx="29337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5F47D0-F4FC-44DF-9596-2FAA3176B579}"/>
              </a:ext>
            </a:extLst>
          </p:cNvPr>
          <p:cNvSpPr>
            <a:spLocks noGrp="1"/>
          </p:cNvSpPr>
          <p:nvPr/>
        </p:nvSpPr>
        <p:spPr>
          <a:xfrm>
            <a:off x="7600950" y="411480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Sender depletion and recipient</a:t>
            </a:r>
          </a:p>
          <a:p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balance behavior create the</a:t>
            </a:r>
          </a:p>
          <a:p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strongest usable signals.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FE5121-B956-4D10-8E45-A8C1DDB0FBC6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Implication: apply behavioral features and nonlinear ranking.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A4DEF9-3E83-49D6-B1F2-9D85E0F4290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CF80B7-E3A9-4BC1-A0A3-2C3CE118CD4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Align · Evidence from exploratory analysis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D716E8-2F71-42BB-89B7-C3DB15D49063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816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ABD6F-03A4-B7F0-1586-155B351B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1A14194-B2DD-3DBA-E195-31533256291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 dirty="0">
                <a:solidFill>
                  <a:srgbClr val="1F6FEB"/>
                </a:solidFill>
              </a:rPr>
              <a:t>ALIGN</a:t>
            </a:r>
            <a:r>
              <a:rPr lang="en-US" sz="1050" b="1" dirty="0">
                <a:solidFill>
                  <a:srgbClr val="1F6FEB"/>
                </a:solidFill>
              </a:rPr>
              <a:t> &amp; INVESTIGATE</a:t>
            </a:r>
            <a:endParaRPr sz="1050" b="1" dirty="0">
              <a:solidFill>
                <a:srgbClr val="1F6FEB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621AA4-D5E7-4780-4221-04C80862301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8BCF6E-E00A-29E7-FED3-A4E05F23688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Align · Evidence from exploratory analysis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926FE8-DA87-B20D-12B0-E080197B0FB2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C7F77B3-9D53-27A1-1EF4-73FC4B896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428" y="1445499"/>
            <a:ext cx="7066221" cy="39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9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44965E9-0F53-4CFB-A3D6-51DED424A5E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INVESTIGATE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9ECC7-2CE4-4DB8-AB23-669BFEBA2433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Rules find a strong starting point; ML completes the ranking.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D9011-4D2B-4BE9-8F5E-EB28135E41D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A clear Phase 1 rule proves the opportunity, but it cannot efficiently prioritize the full risk pool.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228BC-DE13-4A4F-960B-89A722143922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FC8827-E619-4D65-B192-0C7191A1F92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190875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A053A5-2F82-4742-87F6-B166ACF695E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190875" cy="76200"/>
          </a:xfrm>
          <a:prstGeom prst="rect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BEFCD-B975-4E90-B73E-9606370304E6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Rule-based Phase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FAB2C-35D4-4A6F-A851-2D91E91B2780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2809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 dirty="0">
                <a:solidFill>
                  <a:srgbClr val="243B53"/>
                </a:solidFill>
              </a:rPr>
              <a:t>TRANSFER + sender balance emptied + recipient starts at zero balance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555E76B-7C66-4A34-8AA1-CAF821438087}"/>
              </a:ext>
            </a:extLst>
          </p:cNvPr>
          <p:cNvSpPr>
            <a:spLocks noGrp="1"/>
          </p:cNvSpPr>
          <p:nvPr/>
        </p:nvSpPr>
        <p:spPr>
          <a:xfrm>
            <a:off x="4067175" y="2838450"/>
            <a:ext cx="51435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8380D5-BDB1-4CC2-AC07-1D0CB8A01ACD}"/>
              </a:ext>
            </a:extLst>
          </p:cNvPr>
          <p:cNvSpPr>
            <a:spLocks noGrp="1"/>
          </p:cNvSpPr>
          <p:nvPr/>
        </p:nvSpPr>
        <p:spPr>
          <a:xfrm>
            <a:off x="4772025" y="2266950"/>
            <a:ext cx="28575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6B8B6-0244-4DDD-BECA-1D869FBF082B}"/>
              </a:ext>
            </a:extLst>
          </p:cNvPr>
          <p:cNvSpPr>
            <a:spLocks noGrp="1"/>
          </p:cNvSpPr>
          <p:nvPr/>
        </p:nvSpPr>
        <p:spPr>
          <a:xfrm>
            <a:off x="4772025" y="2266950"/>
            <a:ext cx="2857500" cy="762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50308-7991-42A6-A1E9-E49A97E5CD40}"/>
              </a:ext>
            </a:extLst>
          </p:cNvPr>
          <p:cNvSpPr>
            <a:spLocks noGrp="1"/>
          </p:cNvSpPr>
          <p:nvPr/>
        </p:nvSpPr>
        <p:spPr>
          <a:xfrm>
            <a:off x="4962525" y="2533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What the rule achieves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431F4-733B-476A-9937-3A575B388C39}"/>
              </a:ext>
            </a:extLst>
          </p:cNvPr>
          <p:cNvSpPr>
            <a:spLocks noGrp="1"/>
          </p:cNvSpPr>
          <p:nvPr/>
        </p:nvSpPr>
        <p:spPr>
          <a:xfrm>
            <a:off x="4962525" y="2905125"/>
            <a:ext cx="247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 dirty="0">
                <a:solidFill>
                  <a:srgbClr val="243B53"/>
                </a:solidFill>
              </a:rPr>
              <a:t>4,863 transactions (0.955% of sample)</a:t>
            </a:r>
          </a:p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 dirty="0">
                <a:solidFill>
                  <a:srgbClr val="243B53"/>
                </a:solidFill>
              </a:rPr>
              <a:t>323 frauds captured · 6.64% precision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D55BE86-9CFC-40A7-B606-D0E57F3B90BD}"/>
              </a:ext>
            </a:extLst>
          </p:cNvPr>
          <p:cNvSpPr>
            <a:spLocks noGrp="1"/>
          </p:cNvSpPr>
          <p:nvPr/>
        </p:nvSpPr>
        <p:spPr>
          <a:xfrm>
            <a:off x="7820025" y="2838450"/>
            <a:ext cx="51435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8FE3A3B-3EEC-4C9D-8F38-ADFE8B985021}"/>
              </a:ext>
            </a:extLst>
          </p:cNvPr>
          <p:cNvSpPr>
            <a:spLocks noGrp="1"/>
          </p:cNvSpPr>
          <p:nvPr/>
        </p:nvSpPr>
        <p:spPr>
          <a:xfrm>
            <a:off x="8524875" y="2266950"/>
            <a:ext cx="2314575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21DFB9-6756-48F4-9B76-E48DA297A398}"/>
              </a:ext>
            </a:extLst>
          </p:cNvPr>
          <p:cNvSpPr>
            <a:spLocks noGrp="1"/>
          </p:cNvSpPr>
          <p:nvPr/>
        </p:nvSpPr>
        <p:spPr>
          <a:xfrm>
            <a:off x="8524875" y="2266950"/>
            <a:ext cx="2314575" cy="7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8833C2-2998-4816-BD2C-CDB81B95992A}"/>
              </a:ext>
            </a:extLst>
          </p:cNvPr>
          <p:cNvSpPr>
            <a:spLocks noGrp="1"/>
          </p:cNvSpPr>
          <p:nvPr/>
        </p:nvSpPr>
        <p:spPr>
          <a:xfrm>
            <a:off x="8715375" y="2533650"/>
            <a:ext cx="1933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Why ML is needed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B12A76-877C-485D-9ED8-52D49C65266E}"/>
              </a:ext>
            </a:extLst>
          </p:cNvPr>
          <p:cNvSpPr>
            <a:spLocks noGrp="1"/>
          </p:cNvSpPr>
          <p:nvPr/>
        </p:nvSpPr>
        <p:spPr>
          <a:xfrm>
            <a:off x="8715375" y="2905125"/>
            <a:ext cx="19335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43B53"/>
                </a:solidFill>
              </a:defRPr>
            </a:pPr>
            <a:r>
              <a:rPr sz="1125" b="0" dirty="0">
                <a:solidFill>
                  <a:srgbClr val="243B53"/>
                </a:solidFill>
              </a:rPr>
              <a:t>The rule captures 49.4% of all fraud. The remaining cases require finer behavioral ranking.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D4B6E1-43D8-4BE4-AA16-F584F95B66D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C6BD4A-5534-4D1E-8D7A-1BAB6FDBAA4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Investigate · Rule baseline → behavioral machine learning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7674A1-A381-44AC-9F0B-400B3E70B247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833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AB6747C-9A11-4ECD-9E4F-FDB1E016FA6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989A03-F976-4A5E-9D72-CAA1C2A4B2B2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MDLC turns behavior into an actionable 1% queue.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00BB0-6D1A-4117-BCAF-9D496A0914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Each step was designed around the fixed investigator-capacity constraint.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1FF4B-67DC-438B-A9D2-7D7A8014F4D7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3DF2F5-F0B3-4180-8C54-B4A7C5701FA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7716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36C358-D8C3-41CF-A48A-3DB1F1B3BDC8}"/>
              </a:ext>
            </a:extLst>
          </p:cNvPr>
          <p:cNvSpPr>
            <a:spLocks noGrp="1"/>
          </p:cNvSpPr>
          <p:nvPr/>
        </p:nvSpPr>
        <p:spPr>
          <a:xfrm>
            <a:off x="1304925" y="2238375"/>
            <a:ext cx="533400" cy="5334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C132E-7147-430F-903C-BDCE15C495CB}"/>
              </a:ext>
            </a:extLst>
          </p:cNvPr>
          <p:cNvSpPr>
            <a:spLocks noGrp="1"/>
          </p:cNvSpPr>
          <p:nvPr/>
        </p:nvSpPr>
        <p:spPr>
          <a:xfrm>
            <a:off x="1304925" y="23431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F2EF2D-8ADD-49D6-9884-12B51F9BE1A7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Prepare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4AD52-D990-4F87-A4AC-4EA34145F6EF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Drop raw IDs and</a:t>
            </a:r>
          </a:p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is_flagged_fraud.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35826C9-31F6-4DF3-8691-1FAEC993DDD9}"/>
              </a:ext>
            </a:extLst>
          </p:cNvPr>
          <p:cNvSpPr>
            <a:spLocks noGrp="1"/>
          </p:cNvSpPr>
          <p:nvPr/>
        </p:nvSpPr>
        <p:spPr>
          <a:xfrm>
            <a:off x="2466975" y="3267075"/>
            <a:ext cx="26670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4530FD-0053-490B-A941-9E814CF62FE8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17716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943BDC-186F-4A95-B981-7E6E78082806}"/>
              </a:ext>
            </a:extLst>
          </p:cNvPr>
          <p:cNvSpPr>
            <a:spLocks noGrp="1"/>
          </p:cNvSpPr>
          <p:nvPr/>
        </p:nvSpPr>
        <p:spPr>
          <a:xfrm>
            <a:off x="3419475" y="2238375"/>
            <a:ext cx="533400" cy="533400"/>
          </a:xfrm>
          <a:prstGeom prst="ellipse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90D95-C58E-4070-B9BD-4C4C6940E1B5}"/>
              </a:ext>
            </a:extLst>
          </p:cNvPr>
          <p:cNvSpPr>
            <a:spLocks noGrp="1"/>
          </p:cNvSpPr>
          <p:nvPr/>
        </p:nvSpPr>
        <p:spPr>
          <a:xfrm>
            <a:off x="3419475" y="23431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E168E3-74C4-48E1-AF28-28C898522C43}"/>
              </a:ext>
            </a:extLst>
          </p:cNvPr>
          <p:cNvSpPr>
            <a:spLocks noGrp="1"/>
          </p:cNvSpPr>
          <p:nvPr/>
        </p:nvSpPr>
        <p:spPr>
          <a:xfrm>
            <a:off x="2971800" y="2990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Engineer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EA8ED4-1715-4277-8106-CDD1D45568DC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Create balance,</a:t>
            </a:r>
          </a:p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velocity, amount &amp; time signals.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C54BA995-AD8F-4DCA-A13A-73BCA375E5AB}"/>
              </a:ext>
            </a:extLst>
          </p:cNvPr>
          <p:cNvSpPr>
            <a:spLocks noGrp="1"/>
          </p:cNvSpPr>
          <p:nvPr/>
        </p:nvSpPr>
        <p:spPr>
          <a:xfrm>
            <a:off x="4581525" y="3267075"/>
            <a:ext cx="26670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D7D3DD-26BA-4D47-B847-A9A93D2471D1}"/>
              </a:ext>
            </a:extLst>
          </p:cNvPr>
          <p:cNvSpPr>
            <a:spLocks noGrp="1"/>
          </p:cNvSpPr>
          <p:nvPr/>
        </p:nvSpPr>
        <p:spPr>
          <a:xfrm>
            <a:off x="4914900" y="2571750"/>
            <a:ext cx="17716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62CE79-8C1D-4D2D-898A-14C792FE25CB}"/>
              </a:ext>
            </a:extLst>
          </p:cNvPr>
          <p:cNvSpPr>
            <a:spLocks noGrp="1"/>
          </p:cNvSpPr>
          <p:nvPr/>
        </p:nvSpPr>
        <p:spPr>
          <a:xfrm>
            <a:off x="5534025" y="2238375"/>
            <a:ext cx="533400" cy="5334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C9F049-9ED8-4397-B6C2-29E4AC9AD9F5}"/>
              </a:ext>
            </a:extLst>
          </p:cNvPr>
          <p:cNvSpPr>
            <a:spLocks noGrp="1"/>
          </p:cNvSpPr>
          <p:nvPr/>
        </p:nvSpPr>
        <p:spPr>
          <a:xfrm>
            <a:off x="5534025" y="23431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4B90B-B335-4205-850D-AFA611D1E2A4}"/>
              </a:ext>
            </a:extLst>
          </p:cNvPr>
          <p:cNvSpPr>
            <a:spLocks noGrp="1"/>
          </p:cNvSpPr>
          <p:nvPr/>
        </p:nvSpPr>
        <p:spPr>
          <a:xfrm>
            <a:off x="5086350" y="2990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FF7350-127A-4B48-B64A-2A928115EE43}"/>
              </a:ext>
            </a:extLst>
          </p:cNvPr>
          <p:cNvSpPr>
            <a:spLocks noGrp="1"/>
          </p:cNvSpPr>
          <p:nvPr/>
        </p:nvSpPr>
        <p:spPr>
          <a:xfrm>
            <a:off x="5086350" y="33718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Compare logistic regression,</a:t>
            </a:r>
          </a:p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XGBoost &amp; LightGBM.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0C4A33DE-EAA4-45DB-976E-A3A5EAE87374}"/>
              </a:ext>
            </a:extLst>
          </p:cNvPr>
          <p:cNvSpPr>
            <a:spLocks noGrp="1"/>
          </p:cNvSpPr>
          <p:nvPr/>
        </p:nvSpPr>
        <p:spPr>
          <a:xfrm>
            <a:off x="6696075" y="3267075"/>
            <a:ext cx="26670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00A1B98-1473-4EF0-9CB9-CB78AE0B2A50}"/>
              </a:ext>
            </a:extLst>
          </p:cNvPr>
          <p:cNvSpPr>
            <a:spLocks noGrp="1"/>
          </p:cNvSpPr>
          <p:nvPr/>
        </p:nvSpPr>
        <p:spPr>
          <a:xfrm>
            <a:off x="7029450" y="2571750"/>
            <a:ext cx="17716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9989C4-8F2C-45DF-AB65-23DBB0B6C562}"/>
              </a:ext>
            </a:extLst>
          </p:cNvPr>
          <p:cNvSpPr>
            <a:spLocks noGrp="1"/>
          </p:cNvSpPr>
          <p:nvPr/>
        </p:nvSpPr>
        <p:spPr>
          <a:xfrm>
            <a:off x="7648575" y="2238375"/>
            <a:ext cx="533400" cy="533400"/>
          </a:xfrm>
          <a:prstGeom prst="ellipse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C7A589-AEB7-4B7D-B89A-6B368E566D47}"/>
              </a:ext>
            </a:extLst>
          </p:cNvPr>
          <p:cNvSpPr>
            <a:spLocks noGrp="1"/>
          </p:cNvSpPr>
          <p:nvPr/>
        </p:nvSpPr>
        <p:spPr>
          <a:xfrm>
            <a:off x="7648575" y="23431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A40F0F-2EDB-4707-AE88-CF635140507B}"/>
              </a:ext>
            </a:extLst>
          </p:cNvPr>
          <p:cNvSpPr>
            <a:spLocks noGrp="1"/>
          </p:cNvSpPr>
          <p:nvPr/>
        </p:nvSpPr>
        <p:spPr>
          <a:xfrm>
            <a:off x="7200900" y="2990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Calibrate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0F6D80-1D25-4EBB-806B-1471F3197796}"/>
              </a:ext>
            </a:extLst>
          </p:cNvPr>
          <p:cNvSpPr>
            <a:spLocks noGrp="1"/>
          </p:cNvSpPr>
          <p:nvPr/>
        </p:nvSpPr>
        <p:spPr>
          <a:xfrm>
            <a:off x="7200900" y="33718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Convert the selected model</a:t>
            </a:r>
          </a:p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to usable risk probabilities.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1FBA6F2-58F3-47E0-BDE0-06D8194C94C4}"/>
              </a:ext>
            </a:extLst>
          </p:cNvPr>
          <p:cNvSpPr>
            <a:spLocks noGrp="1"/>
          </p:cNvSpPr>
          <p:nvPr/>
        </p:nvSpPr>
        <p:spPr>
          <a:xfrm>
            <a:off x="8810625" y="3267075"/>
            <a:ext cx="266700" cy="266700"/>
          </a:xfrm>
          <a:prstGeom prst="rightArrow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DF1A5DC-FB01-4016-A1C4-10F90947EBED}"/>
              </a:ext>
            </a:extLst>
          </p:cNvPr>
          <p:cNvSpPr>
            <a:spLocks noGrp="1"/>
          </p:cNvSpPr>
          <p:nvPr/>
        </p:nvSpPr>
        <p:spPr>
          <a:xfrm>
            <a:off x="9144000" y="2571750"/>
            <a:ext cx="17716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3FB9A73-EFA9-480E-A003-823ADD7B2E19}"/>
              </a:ext>
            </a:extLst>
          </p:cNvPr>
          <p:cNvSpPr>
            <a:spLocks noGrp="1"/>
          </p:cNvSpPr>
          <p:nvPr/>
        </p:nvSpPr>
        <p:spPr>
          <a:xfrm>
            <a:off x="9763125" y="2238375"/>
            <a:ext cx="533400" cy="5334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A62CB7-7B3C-4F8D-8674-29951A990D7F}"/>
              </a:ext>
            </a:extLst>
          </p:cNvPr>
          <p:cNvSpPr>
            <a:spLocks noGrp="1"/>
          </p:cNvSpPr>
          <p:nvPr/>
        </p:nvSpPr>
        <p:spPr>
          <a:xfrm>
            <a:off x="9763125" y="23431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CF1F48-FF05-424B-9B8C-E550CF394A47}"/>
              </a:ext>
            </a:extLst>
          </p:cNvPr>
          <p:cNvSpPr>
            <a:spLocks noGrp="1"/>
          </p:cNvSpPr>
          <p:nvPr/>
        </p:nvSpPr>
        <p:spPr>
          <a:xfrm>
            <a:off x="9315450" y="2990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Prioritize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0A1E76-10DC-4391-B5E6-273CF4828776}"/>
              </a:ext>
            </a:extLst>
          </p:cNvPr>
          <p:cNvSpPr>
            <a:spLocks noGrp="1"/>
          </p:cNvSpPr>
          <p:nvPr/>
        </p:nvSpPr>
        <p:spPr>
          <a:xfrm>
            <a:off x="9315450" y="33718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Rank all transactions</a:t>
            </a:r>
          </a:p>
          <a:p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and select the top 1%.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9C4D0CF-003D-4864-81FF-0EE8126360F9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514350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A26BC2-A2F0-40BF-88B5-DFC8C28F47D1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Model selection is based on queue quality at 1% capacity—not on accuracy or ROC-AUC alone.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29189-978D-4F55-91AA-49260C3BB06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78C1B5-3A13-4684-9BFF-61B673A57BF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Solve · Machine-learning development lifecycle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CF8FB9-12C3-4DC2-BEB0-85A96B82F96E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621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84031B2-8CDC-4644-A6C2-D01006C3060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CAF873-6EE9-4827-893A-95D8DEAFE9E4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Features encode the behavior of a transaction—not who owns the account.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340242-8104-42D3-A1DA-F79DAFC44D6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The model is designed to generalize behavioral patterns and retain a clear explanation of its inputs.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97BC5-8836-4CD9-A86A-79877DEE51CE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11DB1-EB6C-4FB4-9B07-9F57AC66BD49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INCLUDED BEHAVIORAL SIGNALS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AD00CA-316A-4E1E-AE13-F9104D69F0FA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95250" cy="95250"/>
          </a:xfrm>
          <a:prstGeom prst="ellipse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4B327E-BD65-4B89-A7C4-C5A5DCEAEA2C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Balance movement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5C5AB5-F10B-4F98-A670-E830442E7DB3}"/>
              </a:ext>
            </a:extLst>
          </p:cNvPr>
          <p:cNvSpPr>
            <a:spLocks noGrp="1"/>
          </p:cNvSpPr>
          <p:nvPr/>
        </p:nvSpPr>
        <p:spPr>
          <a:xfrm>
            <a:off x="895350" y="2809875"/>
            <a:ext cx="442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Sender/recipient balance change, balance error, and sender depletion.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6AD9E5-8A41-4FA8-8838-22FBF89D03A4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95250" cy="9525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7768B-94F8-4355-8B9C-4753314F3CA2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Transaction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16FC62-7AB5-4200-9797-71AEC645FA9E}"/>
              </a:ext>
            </a:extLst>
          </p:cNvPr>
          <p:cNvSpPr>
            <a:spLocks noGrp="1"/>
          </p:cNvSpPr>
          <p:nvPr/>
        </p:nvSpPr>
        <p:spPr>
          <a:xfrm>
            <a:off x="895350" y="3590925"/>
            <a:ext cx="442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Type, amount, amount-to-balance ratios, hour of day, and merchant indicator.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8A0D7C-FAD5-4275-8AFA-F5C41AD6B731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95250" cy="952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375F1E-F52B-48DB-8CE8-76279D270423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Model comparison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0D9737-7A89-4FE5-AFD4-81B353BD8235}"/>
              </a:ext>
            </a:extLst>
          </p:cNvPr>
          <p:cNvSpPr>
            <a:spLocks noGrp="1"/>
          </p:cNvSpPr>
          <p:nvPr/>
        </p:nvSpPr>
        <p:spPr>
          <a:xfrm>
            <a:off x="895350" y="4371975"/>
            <a:ext cx="442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Logistic regression establishes interpretability; XGBoost and LightGBM capture nonlinear interactions.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842884-7C10-4CF5-B73F-205691DBF365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436245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87783-2BAE-4E16-9CA3-8456B6957307}"/>
              </a:ext>
            </a:extLst>
          </p:cNvPr>
          <p:cNvSpPr>
            <a:spLocks noGrp="1"/>
          </p:cNvSpPr>
          <p:nvPr/>
        </p:nvSpPr>
        <p:spPr>
          <a:xfrm>
            <a:off x="6800850" y="25527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EA5A5"/>
                </a:solidFill>
              </a:defRPr>
            </a:pPr>
            <a:r>
              <a:rPr sz="1050" b="1">
                <a:solidFill>
                  <a:srgbClr val="0EA5A5"/>
                </a:solidFill>
              </a:rPr>
              <a:t>EVALUATION DESIGN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C1FFF4-D173-4051-BA3A-079D551AB83E}"/>
              </a:ext>
            </a:extLst>
          </p:cNvPr>
          <p:cNvSpPr>
            <a:spLocks noGrp="1"/>
          </p:cNvSpPr>
          <p:nvPr/>
        </p:nvSpPr>
        <p:spPr>
          <a:xfrm>
            <a:off x="6800850" y="2990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Primary business metrics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01628C-0082-4554-9A94-8AF3EB00FC24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2095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Recall@1%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Precision@1%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Lift@1%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Fraud value recall@1%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8288EA-8D55-456F-AE87-AF4A7BEC278D}"/>
              </a:ext>
            </a:extLst>
          </p:cNvPr>
          <p:cNvSpPr>
            <a:spLocks noGrp="1"/>
          </p:cNvSpPr>
          <p:nvPr/>
        </p:nvSpPr>
        <p:spPr>
          <a:xfrm>
            <a:off x="9067800" y="3162300"/>
            <a:ext cx="9525" cy="1295400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79A877-5621-493F-91B1-C40AA8B143BD}"/>
              </a:ext>
            </a:extLst>
          </p:cNvPr>
          <p:cNvSpPr>
            <a:spLocks noGrp="1"/>
          </p:cNvSpPr>
          <p:nvPr/>
        </p:nvSpPr>
        <p:spPr>
          <a:xfrm>
            <a:off x="9277350" y="3314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Technical checks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9A03AC-C5A5-43D7-A517-F29C159768E1}"/>
              </a:ext>
            </a:extLst>
          </p:cNvPr>
          <p:cNvSpPr>
            <a:spLocks noGrp="1"/>
          </p:cNvSpPr>
          <p:nvPr/>
        </p:nvSpPr>
        <p:spPr>
          <a:xfrm>
            <a:off x="9277350" y="36766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PR-AUC</a:t>
            </a:r>
          </a:p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ROC-AUC</a:t>
            </a:r>
          </a:p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Calibration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FB4936-A922-40C5-BDB2-4F1DE21BED5C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Excluded: raw sender/recipient IDs and is_flagged_fraud.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0FF8A-274F-42D4-8589-0184BCEF519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C3BFC4-57F5-46B4-9D90-54210BF12178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Solve · Feature engineering and model evaluation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5271B7-C378-40C6-980D-2F763DB3E362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4204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B79DE58-4245-4E57-AC41-870C9BAE7C1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6D7F6B-D5A8-450F-8CBA-14F5ADD22931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Probability ranking is the simplest strategy—and it already captures the value.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1187-D469-42C4-8F69-969B62FA3B4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Strategy B did not change the top-1% queue, so it adds complexity without additional benefit.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F80F1-D754-4FE5-9FA7-86CD60A54199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91B1B0-DAA1-428A-9D59-644754EAEE5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8577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FD4D9-1C10-4237-9001-4B6797080C21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STRATEGY A · SELECTED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9CEF1-D6C5-4015-B59B-918DD879155B}"/>
              </a:ext>
            </a:extLst>
          </p:cNvPr>
          <p:cNvSpPr>
            <a:spLocks noGrp="1"/>
          </p:cNvSpPr>
          <p:nvPr/>
        </p:nvSpPr>
        <p:spPr>
          <a:xfrm>
            <a:off x="990600" y="29241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Rank by P(Fraud)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C9EBBF-E4B8-447D-9162-FEC69DDC69B4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361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Best for catching the greatest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number of fraud cases with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 transparent, stable queue.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86FAD1-D383-4056-90B5-B15D53004F33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Priority score = calibrated fraud probability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78F48F-F0F0-40DF-8945-6CCEC327E3FF}"/>
              </a:ext>
            </a:extLst>
          </p:cNvPr>
          <p:cNvSpPr>
            <a:spLocks noGrp="1"/>
          </p:cNvSpPr>
          <p:nvPr/>
        </p:nvSpPr>
        <p:spPr>
          <a:xfrm>
            <a:off x="5981700" y="2209800"/>
            <a:ext cx="48577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CCB24-2728-4CEB-8970-ACA4D6BB0443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STRATEGY B · NOT NEEDED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B28AEA-44A4-4059-B88B-83854A818617}"/>
              </a:ext>
            </a:extLst>
          </p:cNvPr>
          <p:cNvSpPr>
            <a:spLocks noGrp="1"/>
          </p:cNvSpPr>
          <p:nvPr/>
        </p:nvSpPr>
        <p:spPr>
          <a:xfrm>
            <a:off x="6286500" y="29241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Rank by P(Fraud) × Amount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43A8A-3342-471F-AC2D-6034CB20AA28}"/>
              </a:ext>
            </a:extLst>
          </p:cNvPr>
          <p:cNvSpPr>
            <a:spLocks noGrp="1"/>
          </p:cNvSpPr>
          <p:nvPr/>
        </p:nvSpPr>
        <p:spPr>
          <a:xfrm>
            <a:off x="6286500" y="3390900"/>
            <a:ext cx="371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Best when high-value fraud is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being missed by probability alone.</a:t>
            </a:r>
          </a:p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That did not occur in this data.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9EEA9B-3860-4F3F-BA44-6F8D4070481D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Priority score = expected gross exposure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1654E2-7F1C-41AF-B935-60173D638C14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0153650" cy="514350"/>
          </a:xfrm>
          <a:prstGeom prst="roundRect">
            <a:avLst>
              <a:gd name="adj" fmla="val 14815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7135F-AE85-4EA3-AEAA-60381A696729}"/>
              </a:ext>
            </a:extLst>
          </p:cNvPr>
          <p:cNvSpPr>
            <a:spLocks noGrp="1"/>
          </p:cNvSpPr>
          <p:nvPr/>
        </p:nvSpPr>
        <p:spPr>
          <a:xfrm>
            <a:off x="990600" y="53435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Both policies selected the same queue: 162 of 163 frauds and 99.98% of fraud value captured.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0EB9CE-8415-4DD0-8045-10D080BCDEB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D5564-DFF8-4884-B991-3DF14D4F6748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Solve · Strategy selection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77EF5-FBFF-4AC3-A7C6-F2A7A631322B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413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71BC42D-5372-40F9-AA7C-9829127F55E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RECOMMEND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C7776F-3901-4370-9BCF-D23B1942CA8A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Recommendation: deploy a probability-led 1% queue.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92830-696E-47D9-877C-BDADC6DF4E9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Use the selected calibrated ML model to rank transactions by fraud probability and send only the top 1% to investigators.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02C0FF-1E64-40B0-8EA2-2C8BF83ED706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E1EB89-31CA-48B2-B5DC-26BFCA23CE6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62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FD34E-A49A-4F51-AACD-7BECFAE0A3C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" cy="10668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565C-F354-46E4-8BFF-48084B8F7F46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1,273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D4E9D-BEC5-4023-9056-78775E2CD84F}"/>
              </a:ext>
            </a:extLst>
          </p:cNvPr>
          <p:cNvSpPr>
            <a:spLocks noGrp="1"/>
          </p:cNvSpPr>
          <p:nvPr/>
        </p:nvSpPr>
        <p:spPr>
          <a:xfrm>
            <a:off x="914400" y="29622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transactions reviewed in the test queue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59CDD1-4459-4A7C-A28C-66F9122F925E}"/>
              </a:ext>
            </a:extLst>
          </p:cNvPr>
          <p:cNvSpPr>
            <a:spLocks noGrp="1"/>
          </p:cNvSpPr>
          <p:nvPr/>
        </p:nvSpPr>
        <p:spPr>
          <a:xfrm>
            <a:off x="3276600" y="2324100"/>
            <a:ext cx="2362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1A83A-E073-4538-A151-532E3DEF3FBB}"/>
              </a:ext>
            </a:extLst>
          </p:cNvPr>
          <p:cNvSpPr>
            <a:spLocks noGrp="1"/>
          </p:cNvSpPr>
          <p:nvPr/>
        </p:nvSpPr>
        <p:spPr>
          <a:xfrm>
            <a:off x="3276600" y="2324100"/>
            <a:ext cx="57150" cy="1066800"/>
          </a:xfrm>
          <a:prstGeom prst="rect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A9FE84-ADC9-4656-923F-50C53C0947C8}"/>
              </a:ext>
            </a:extLst>
          </p:cNvPr>
          <p:cNvSpPr>
            <a:spLocks noGrp="1"/>
          </p:cNvSpPr>
          <p:nvPr/>
        </p:nvSpPr>
        <p:spPr>
          <a:xfrm>
            <a:off x="3505200" y="24955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162 / 163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10DED-5E65-416F-B5FF-F838FD38F73F}"/>
              </a:ext>
            </a:extLst>
          </p:cNvPr>
          <p:cNvSpPr>
            <a:spLocks noGrp="1"/>
          </p:cNvSpPr>
          <p:nvPr/>
        </p:nvSpPr>
        <p:spPr>
          <a:xfrm>
            <a:off x="3505200" y="29622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fraud cases captured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39CF88-789E-45FB-A3FE-AEFBC66BB6FC}"/>
              </a:ext>
            </a:extLst>
          </p:cNvPr>
          <p:cNvSpPr>
            <a:spLocks noGrp="1"/>
          </p:cNvSpPr>
          <p:nvPr/>
        </p:nvSpPr>
        <p:spPr>
          <a:xfrm>
            <a:off x="5867400" y="2324100"/>
            <a:ext cx="2362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48B439-16B0-4536-99B8-CE519026829B}"/>
              </a:ext>
            </a:extLst>
          </p:cNvPr>
          <p:cNvSpPr>
            <a:spLocks noGrp="1"/>
          </p:cNvSpPr>
          <p:nvPr/>
        </p:nvSpPr>
        <p:spPr>
          <a:xfrm>
            <a:off x="5867400" y="2324100"/>
            <a:ext cx="57150" cy="1066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775D12-D2BD-4E9B-B7E9-DA1B852E389B}"/>
              </a:ext>
            </a:extLst>
          </p:cNvPr>
          <p:cNvSpPr>
            <a:spLocks noGrp="1"/>
          </p:cNvSpPr>
          <p:nvPr/>
        </p:nvSpPr>
        <p:spPr>
          <a:xfrm>
            <a:off x="6096000" y="24955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12.73%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6C23AE-24EE-43DC-B594-E20E7D54BA7A}"/>
              </a:ext>
            </a:extLst>
          </p:cNvPr>
          <p:cNvSpPr>
            <a:spLocks noGrp="1"/>
          </p:cNvSpPr>
          <p:nvPr/>
        </p:nvSpPr>
        <p:spPr>
          <a:xfrm>
            <a:off x="6096000" y="29622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queue precision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9E3E4B-DB8D-4490-8FF6-2ED71F1A9E28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2362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160820-6BF8-4E95-BB06-C8DC1930A58F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57150" cy="10668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80913-DBD2-4358-84A5-554E16BB7487}"/>
              </a:ext>
            </a:extLst>
          </p:cNvPr>
          <p:cNvSpPr>
            <a:spLocks noGrp="1"/>
          </p:cNvSpPr>
          <p:nvPr/>
        </p:nvSpPr>
        <p:spPr>
          <a:xfrm>
            <a:off x="8686800" y="24955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99.3×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FEA940-C5A6-46CB-8BD7-19E3C11B0DEE}"/>
              </a:ext>
            </a:extLst>
          </p:cNvPr>
          <p:cNvSpPr>
            <a:spLocks noGrp="1"/>
          </p:cNvSpPr>
          <p:nvPr/>
        </p:nvSpPr>
        <p:spPr>
          <a:xfrm>
            <a:off x="8686800" y="29622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fraud lift above the sample rate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2D54731-83D0-4864-BE7A-56FACE6777EA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15365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6AA040-F715-45D1-99BF-6AD786F7EA59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Why this is the one recommendation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DCF4E5-C1E9-4B38-B63F-E8BEAD5D405E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891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It captures 99.39% of labeled fraud and 99.98% of fraudulent value while preserving a simple explanation for investigators: “this transaction ranked highest on estimated fraud risk.”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CEA091-D3BC-4C56-AF8A-69DEFA7C22FE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F6FEB"/>
                </a:solidFill>
              </a:defRPr>
            </a:pPr>
            <a:r>
              <a:rPr sz="1200" b="1">
                <a:solidFill>
                  <a:srgbClr val="1F6FEB"/>
                </a:solidFill>
              </a:rPr>
              <a:t>The operational decision is clear: prioritize probability, not amount weighting.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E39D01-48C6-4507-9FD7-3D11FA720C7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7712FF-7D7F-4D21-9B89-A62E903BDD9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Recommendation · Calibrated fraud-probability ranking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641C5F-AA6C-423C-9BE7-5F91B1CC9C4C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056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F2C4B82-EF9D-4614-982D-34397553675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EA5A5"/>
                </a:solidFill>
              </a:defRPr>
            </a:pPr>
            <a:r>
              <a:rPr sz="1050" b="1">
                <a:solidFill>
                  <a:srgbClr val="0EA5A5"/>
                </a:solidFill>
              </a:rPr>
              <a:t>SUSTAIN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968BF2-D697-4A73-BBDA-44B7FBF6AB67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Scale the proof of concept in three deliberate phases.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AC523-6BCE-45CC-AF6D-5221857DFBA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Keep the first release simple, learn from investigators, then evolve to a durable hybrid decision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EBF8C-D952-417C-ADA0-EDE933F84BC5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6362E-A260-4508-9DA2-8AF6A15CA817}"/>
              </a:ext>
            </a:extLst>
          </p:cNvPr>
          <p:cNvSpPr>
            <a:spLocks noGrp="1"/>
          </p:cNvSpPr>
          <p:nvPr/>
        </p:nvSpPr>
        <p:spPr>
          <a:xfrm>
            <a:off x="1485900" y="3238500"/>
            <a:ext cx="8686800" cy="476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D25E9B-F125-46F1-9E63-DE2B97AA9DAB}"/>
              </a:ext>
            </a:extLst>
          </p:cNvPr>
          <p:cNvSpPr>
            <a:spLocks noGrp="1"/>
          </p:cNvSpPr>
          <p:nvPr/>
        </p:nvSpPr>
        <p:spPr>
          <a:xfrm>
            <a:off x="1809750" y="2952750"/>
            <a:ext cx="590550" cy="590550"/>
          </a:xfrm>
          <a:prstGeom prst="ellipse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54C8F-8CB2-4E32-AE13-2142ABA0CA0D}"/>
              </a:ext>
            </a:extLst>
          </p:cNvPr>
          <p:cNvSpPr>
            <a:spLocks noGrp="1"/>
          </p:cNvSpPr>
          <p:nvPr/>
        </p:nvSpPr>
        <p:spPr>
          <a:xfrm>
            <a:off x="1809750" y="3095625"/>
            <a:ext cx="59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5AE902-ECA0-4462-AD94-D7E54D6C014A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05CC0-AB50-41CA-BF0E-224D84A96121}"/>
              </a:ext>
            </a:extLst>
          </p:cNvPr>
          <p:cNvSpPr>
            <a:spLocks noGrp="1"/>
          </p:cNvSpPr>
          <p:nvPr/>
        </p:nvSpPr>
        <p:spPr>
          <a:xfrm>
            <a:off x="876300" y="4105275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EA5A5"/>
                </a:solidFill>
              </a:defRPr>
            </a:pPr>
            <a:r>
              <a:rPr sz="1200" b="1">
                <a:solidFill>
                  <a:srgbClr val="0EA5A5"/>
                </a:solidFill>
              </a:rPr>
              <a:t>&lt; 1 week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F9D2C-55A8-4C62-96F6-8FA55E7832F9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Operationalize the rule baseline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Define review workflow, owners,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and queue handoff.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F766B-B1FC-4326-BC2F-0DFAD901CED1}"/>
              </a:ext>
            </a:extLst>
          </p:cNvPr>
          <p:cNvSpPr>
            <a:spLocks noGrp="1"/>
          </p:cNvSpPr>
          <p:nvPr/>
        </p:nvSpPr>
        <p:spPr>
          <a:xfrm>
            <a:off x="5334000" y="2952750"/>
            <a:ext cx="590550" cy="59055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F6F8A-C24F-448A-95BA-284C28DA11A8}"/>
              </a:ext>
            </a:extLst>
          </p:cNvPr>
          <p:cNvSpPr>
            <a:spLocks noGrp="1"/>
          </p:cNvSpPr>
          <p:nvPr/>
        </p:nvSpPr>
        <p:spPr>
          <a:xfrm>
            <a:off x="5334000" y="3095625"/>
            <a:ext cx="59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0E50C-E0D7-4636-A86C-A228B97FBA8F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Phase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453E74-0AE0-46AA-B0CE-0A0525C4BC5D}"/>
              </a:ext>
            </a:extLst>
          </p:cNvPr>
          <p:cNvSpPr>
            <a:spLocks noGrp="1"/>
          </p:cNvSpPr>
          <p:nvPr/>
        </p:nvSpPr>
        <p:spPr>
          <a:xfrm>
            <a:off x="4400550" y="4105275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F6FEB"/>
                </a:solidFill>
              </a:defRPr>
            </a:pPr>
            <a:r>
              <a:rPr sz="1200" b="1">
                <a:solidFill>
                  <a:srgbClr val="1F6FEB"/>
                </a:solidFill>
              </a:rPr>
              <a:t>Month 1 →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64B8DD-CD50-4B8B-B2CF-40A267012189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Deploy ML + Strategy A in real time.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Monitor top-1% queue quality,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calibration, and investigator outcomes.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AF09E5-658D-48C1-8F68-F1844C693C92}"/>
              </a:ext>
            </a:extLst>
          </p:cNvPr>
          <p:cNvSpPr>
            <a:spLocks noGrp="1"/>
          </p:cNvSpPr>
          <p:nvPr/>
        </p:nvSpPr>
        <p:spPr>
          <a:xfrm>
            <a:off x="8858250" y="2952750"/>
            <a:ext cx="590550" cy="5905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C4710F-EC11-4DA0-9795-12E0EC865F86}"/>
              </a:ext>
            </a:extLst>
          </p:cNvPr>
          <p:cNvSpPr>
            <a:spLocks noGrp="1"/>
          </p:cNvSpPr>
          <p:nvPr/>
        </p:nvSpPr>
        <p:spPr>
          <a:xfrm>
            <a:off x="8858250" y="3095625"/>
            <a:ext cx="59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02B15F-59A2-4C95-B2D9-ABCED0CABE0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Phase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D87DAB-E604-4C28-9761-F39BEA8F779A}"/>
              </a:ext>
            </a:extLst>
          </p:cNvPr>
          <p:cNvSpPr>
            <a:spLocks noGrp="1"/>
          </p:cNvSpPr>
          <p:nvPr/>
        </p:nvSpPr>
        <p:spPr>
          <a:xfrm>
            <a:off x="7924800" y="4105275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Month 3+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8C40B9-1CD3-41C7-BA8D-7C6D931707BF}"/>
              </a:ext>
            </a:extLst>
          </p:cNvPr>
          <p:cNvSpPr>
            <a:spLocks noGrp="1"/>
          </p:cNvSpPr>
          <p:nvPr/>
        </p:nvSpPr>
        <p:spPr>
          <a:xfrm>
            <a:off x="7962900" y="44577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Adopt the hybrid model: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Rules + ML + feedback labels.</a:t>
            </a:r>
          </a:p>
          <a:p>
            <a:pPr algn="ctr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Retrain and refine policy regularly.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63212C-2430-4509-AAA1-E7E430DBD41E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The feedback loop is the long-term asset: every investigation outcome improves future ranking quality.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972C98-2DD9-43AF-B9A2-BE68BC3016C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0A0D17-B06D-4BDC-9814-00BF54F912F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Sustain · Phase-based implementation roadmap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4DCA3C-AC62-4EDE-8747-02C1591CD2C6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293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6A5CA3A-82AA-4192-8FFC-30C04AE5EC5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CLOSE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08135-30B1-46A0-BEFD-BD7D161DE8D3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Validate this high-performing POC responsibly.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CCCBD4-E2D5-45BF-BF27-168BA6F19D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The recommendation is strong because it is specific, measurable, and paired with clear guardrails.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86993-CDDC-4061-8237-23C46A89B4CE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723900" cy="381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2351290-CC63-4724-AC04-377B3CE657A6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1536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5961B-D117-4C02-A4DB-FCF196C253B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76200" cy="6858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7300B-6B2A-49C4-A6F9-D059C9AF588D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Synthetic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89B86B-0D30-4E49-9F59-62FF99CE5F0C}"/>
              </a:ext>
            </a:extLst>
          </p:cNvPr>
          <p:cNvSpPr>
            <a:spLocks noGrp="1"/>
          </p:cNvSpPr>
          <p:nvPr/>
        </p:nvSpPr>
        <p:spPr>
          <a:xfrm>
            <a:off x="3181350" y="2486025"/>
            <a:ext cx="712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Treat the observed fraud rate as a modeling sample—not a production prevalence estimate.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C177C6-891A-42FB-B827-0C6E93FDF7CE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1536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63C4B-4C09-457F-AC29-99D37323B281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76200" cy="685800"/>
          </a:xfrm>
          <a:prstGeom prst="rect">
            <a:avLst/>
          </a:prstGeom>
          <a:solidFill>
            <a:srgbClr val="E45757"/>
          </a:solidFill>
          <a:ln w="0">
            <a:solidFill>
              <a:srgbClr val="E4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A7DF8-BF22-4EE3-8572-0F2D80A7ED48}"/>
              </a:ext>
            </a:extLst>
          </p:cNvPr>
          <p:cNvSpPr>
            <a:spLocks noGrp="1"/>
          </p:cNvSpPr>
          <p:nvPr/>
        </p:nvSpPr>
        <p:spPr>
          <a:xfrm>
            <a:off x="990600" y="3409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Feature availability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28485-3F64-4825-97E0-BB410609B1F2}"/>
              </a:ext>
            </a:extLst>
          </p:cNvPr>
          <p:cNvSpPr>
            <a:spLocks noGrp="1"/>
          </p:cNvSpPr>
          <p:nvPr/>
        </p:nvSpPr>
        <p:spPr>
          <a:xfrm>
            <a:off x="3181350" y="3400425"/>
            <a:ext cx="712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Confirm balance-after fields are available when the real-time decision is made.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BDCEEC-28C8-45AF-B927-843825D09355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101536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B7F1B5-5578-4800-983B-5FE7CD7E136C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76200" cy="685800"/>
          </a:xfrm>
          <a:prstGeom prst="rect">
            <a:avLst/>
          </a:prstGeom>
          <a:solidFill>
            <a:srgbClr val="0EA5A5"/>
          </a:solidFill>
          <a:ln w="0">
            <a:solidFill>
              <a:srgbClr val="0E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0F0196-F19B-4A64-BBF2-7AA94109A121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Performance drift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3B9D6C-FB75-4477-A590-95C235D23401}"/>
              </a:ext>
            </a:extLst>
          </p:cNvPr>
          <p:cNvSpPr>
            <a:spLocks noGrp="1"/>
          </p:cNvSpPr>
          <p:nvPr/>
        </p:nvSpPr>
        <p:spPr>
          <a:xfrm>
            <a:off x="3181350" y="4314825"/>
            <a:ext cx="7124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Track Recall@1%, Precision@1%, calibration, and investigator outcomes after launch.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BC9717-1890-4FBD-8E19-579A1529FA02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153650" cy="590550"/>
          </a:xfrm>
          <a:prstGeom prst="roundRect">
            <a:avLst>
              <a:gd name="adj" fmla="val 12903"/>
            </a:avLst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F32F7E-304C-40E3-8998-2681A2550030}"/>
              </a:ext>
            </a:extLst>
          </p:cNvPr>
          <p:cNvSpPr>
            <a:spLocks noGrp="1"/>
          </p:cNvSpPr>
          <p:nvPr/>
        </p:nvSpPr>
        <p:spPr>
          <a:xfrm>
            <a:off x="1028700" y="5505450"/>
            <a:ext cx="946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Decision: launch the probability-ranked 1% queue as the Phase 2 real-time POC—and learn into a Rules + ML + Feedback system.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65E69-57EB-4C70-86B9-4424CB05053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3ECEAE-5B40-45B9-9348-D182997E09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Close · Decision and responsible next steps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457A41-32D8-447C-A74F-A360880A7DA3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27D98"/>
                </a:solidFill>
              </a:defRPr>
            </a:pPr>
            <a:r>
              <a:rPr sz="825" b="1">
                <a:solidFill>
                  <a:srgbClr val="627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5828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1441</Words>
  <Application>Microsoft Macintosh PowerPoint</Application>
  <DocSecurity>0</DocSecurity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Yiling Zheng</cp:lastModifiedBy>
  <cp:revision>1</cp:revision>
  <dcterms:created xsi:type="dcterms:W3CDTF">2026-08-15T20:24:19Z</dcterms:created>
  <dcterms:modified xsi:type="dcterms:W3CDTF">2026-08-15T20:35:45Z</dcterms:modified>
</cp:coreProperties>
</file>