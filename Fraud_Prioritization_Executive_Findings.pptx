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7" r:id="rId6"/>
    <p:sldId id="260" r:id="rId7"/>
    <p:sldId id="261" r:id="rId8"/>
    <p:sldId id="262" r:id="rId9"/>
    <p:sldId id="263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58"/>
  </p:normalViewPr>
  <p:slideViewPr>
    <p:cSldViewPr snapToGrid="0">
      <p:cViewPr varScale="1">
        <p:scale>
          <a:sx n="120" d="100"/>
          <a:sy n="120" d="100"/>
        </p:scale>
        <p:origin x="4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Fraud rate</c:v>
          </c:tx>
          <c:spPr>
            <a:solidFill>
              <a:srgbClr val="C2414A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 b="1">
                    <a:solidFill>
                      <a:srgbClr val="102A43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TRANSFER</c:v>
              </c:pt>
              <c:pt idx="1">
                <c:v>CASH_OUT</c:v>
              </c:pt>
              <c:pt idx="2">
                <c:v>CASH_IN</c:v>
              </c:pt>
              <c:pt idx="3">
                <c:v>DEBIT</c:v>
              </c:pt>
              <c:pt idx="4">
                <c:v>PAYMENT</c:v>
              </c:pt>
            </c:strLit>
          </c:cat>
          <c:val>
            <c:numLit>
              <c:formatCode>0</c:formatCode>
              <c:ptCount val="5"/>
              <c:pt idx="0">
                <c:v>77</c:v>
              </c:pt>
              <c:pt idx="1">
                <c:v>18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D222-0041-BE38-752C22C69BB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2606D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90"/>
          <c:min val="0"/>
        </c:scaling>
        <c:delete val="0"/>
        <c:axPos val="l"/>
        <c:majorGridlines>
          <c:spPr>
            <a:ln w="9525">
              <a:solidFill>
                <a:srgbClr val="D9E2EC"/>
              </a:solidFill>
              <a:prstDash val="solid"/>
            </a:ln>
          </c:spPr>
        </c:majorGridlines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2606D"/>
                </a:solidFill>
              </a:defRPr>
            </a:pPr>
            <a:endParaRPr lang="en-US"/>
          </a:p>
        </c:txPr>
        <c:crossAx val="48650112"/>
        <c:crosses val="autoZero"/>
        <c:crossBetween val="between"/>
        <c:majorUnit val="30"/>
      </c:valAx>
    </c:plotArea>
    <c:plotVisOnly val="1"/>
    <c:dispBlanksAs val="zero"/>
    <c:showDLblsOverMax val="1"/>
  </c:char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PR-AUC</c:v>
          </c:tx>
          <c:spPr>
            <a:solidFill>
              <a:srgbClr val="1565C0"/>
            </a:solidFill>
          </c:spPr>
          <c:invertIfNegative val="1"/>
          <c:dPt>
            <c:idx val="0"/>
            <c:invertIfNegative val="0"/>
            <c:bubble3D val="0"/>
            <c:spPr>
              <a:solidFill>
                <a:srgbClr val="0F766E"/>
              </a:solidFill>
            </c:spPr>
            <c:extLst>
              <c:ext xmlns:c16="http://schemas.microsoft.com/office/drawing/2014/chart" uri="{C3380CC4-5D6E-409C-BE32-E72D297353CC}">
                <c16:uniqueId val="{00000001-2446-E843-A1EA-80BBE9DA30C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 b="1">
                    <a:solidFill>
                      <a:srgbClr val="102A43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Logistic Regression</c:v>
              </c:pt>
              <c:pt idx="1">
                <c:v>XGBoost</c:v>
              </c:pt>
              <c:pt idx="2">
                <c:v>LightGBM</c:v>
              </c:pt>
            </c:strLit>
          </c:cat>
          <c:val>
            <c:numLit>
              <c:formatCode>General</c:formatCode>
              <c:ptCount val="3"/>
              <c:pt idx="0">
                <c:v>0.99970000000000003</c:v>
              </c:pt>
              <c:pt idx="1">
                <c:v>0.99750000000000005</c:v>
              </c:pt>
              <c:pt idx="2">
                <c:v>0.997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2446-E843-A1EA-80BBE9DA30C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D9E2EC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52606D"/>
                </a:solidFill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52606D"/>
                </a:solidFill>
              </a:defRPr>
            </a:pPr>
            <a:endParaRPr lang="en-US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 Analysis: Phase2_Fraud_Prioritization.ipynb (user-provided); no external sources.</a:t>
            </a:r>
          </a:p>
          <a:p>
            <a:r>
              <a:t>Opening: frame this as a resource-allocation problem, not a generic classification exercise.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 Analysis: Phase2_Fraud_Prioritization.ipynb (user-provided); no external sources.</a:t>
            </a:r>
          </a:p>
          <a:p>
            <a:r>
              <a:t>Decision metrics are held-out test results; workload is unchanged at a fixed top-1% investigation queue.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 Analysis: Phase2_Fraud_Prioritization.ipynb (user-provided); no external sources.</a:t>
            </a:r>
          </a:p>
          <a:p>
            <a:r>
              <a:t>Training set: 509,009 rows, 654 fraud cases, 0.1285% fraud rate. Accuracy is misleading: predicting every transaction legitimate would be 99.8715% accurate while detecting no fraud.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 Analysis: Phase2_Fraud_Prioritization.ipynb (user-provided); no external sources.</a:t>
            </a:r>
          </a:p>
          <a:p>
            <a:r>
              <a:t>EDA: fraud exists only in TRANSFER (0.77%) and CASH_OUT (0.18%) in this data. Sender balance is fully emptied in 98.78% of fraud vs. 90.13% of legitimate transfer/cash-out. The Phase 1 rule matches 95,264/509,009 = 18.7%.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 Analysis: Phase2_Fraud_Prioritization.ipynb (user-provided); no external sources.</a:t>
            </a:r>
          </a:p>
          <a:p>
            <a:r>
              <a:t>Explain that ML is not replacing domain rules: it is using observed behavior to rank constrained review capacity more efficiently.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 Analysis: Phase2_Fraud_Prioritization.ipynb (user-provided); no external sources.</a:t>
            </a:r>
          </a:p>
          <a:p>
            <a:r>
              <a:t>Feature engineering: sender/recipient balance changes, balance-reconciliation errors, sender_balance_emptied, amount_to_sender_balance, recipient_is_merchant, hour_of_day. Tree feature matrix has 14 columns; LR feature matrix has 18 after encoding.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 Analysis: Phase2_Fraud_Prioritization.ipynb (user-provided); no external sources.</a:t>
            </a:r>
          </a:p>
          <a:p>
            <a:r>
              <a:t>OOF PR-AUC: Logistic Regression 0.9997, XGBoost 0.9975, LightGBM 0.9970. At top 1%, LR and XGBoost both captured 100% of training fraud; LR selected as simpler and fully interpretable.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 Analysis: Phase2_Fraud_Prioritization.ipynb (user-provided); no external sources.</a:t>
            </a:r>
          </a:p>
          <a:p>
            <a:r>
              <a:t>Strategy A OOF: recall@1%=100%, precision@1%=12.85%, value recall=100%, reviews/fraud=7.784. Strategy B OOF: recall@1%=99.69%, value recall=100%, reviews/fraud=7.808. The notebook selected Strategy 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 Analysis: Phase2_Fraud_Prioritization.ipynb (user-provided); no external sources.</a:t>
            </a:r>
          </a:p>
          <a:p>
            <a:r>
              <a:t>Rollout plan requested by user. Phase 2 uses ML1 / Strategy A for real-time deployment; Phase 3 adopts Rules + ML + Feedback with more labeled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 Analysis: Phase2_Fraud_Prioritization.ipynb (user-provided); no external sources.</a:t>
            </a:r>
          </a:p>
          <a:p>
            <a:r>
              <a:t>Close with the implementation ask: approve the real-time rollout and the feedback loop. The Phase 1 rule remains available as guardrail/fallback.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02DBADA-10AC-41BE-AEA6-3E7B7EA17F37}"/>
              </a:ext>
            </a:extLst>
          </p:cNvPr>
          <p:cNvSpPr>
            <a:spLocks noGrp="1"/>
          </p:cNvSpPr>
          <p:nvPr/>
        </p:nvSpPr>
        <p:spPr>
          <a:xfrm>
            <a:off x="685800" y="800100"/>
            <a:ext cx="476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1565C0"/>
                </a:solidFill>
              </a:defRPr>
            </a:pPr>
            <a:r>
              <a:rPr sz="1125" b="1" i="0">
                <a:solidFill>
                  <a:srgbClr val="1565C0"/>
                </a:solidFill>
              </a:rPr>
              <a:t>FRAUD PRIORITIZATION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5E0BCB-E92A-4E56-8F94-C11DC4337044}"/>
              </a:ext>
            </a:extLst>
          </p:cNvPr>
          <p:cNvSpPr>
            <a:spLocks noGrp="1"/>
          </p:cNvSpPr>
          <p:nvPr/>
        </p:nvSpPr>
        <p:spPr>
          <a:xfrm>
            <a:off x="685800" y="1333500"/>
            <a:ext cx="6667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4050" b="1" i="0">
                <a:solidFill>
                  <a:srgbClr val="102A43"/>
                </a:solidFill>
              </a:defRPr>
            </a:pPr>
            <a:r>
              <a:rPr sz="4050" b="1" i="0">
                <a:solidFill>
                  <a:srgbClr val="102A43"/>
                </a:solidFill>
              </a:rPr>
              <a:t>Fraud Prioritization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4E995C-0CB2-4964-9963-EB95A0F777FA}"/>
              </a:ext>
            </a:extLst>
          </p:cNvPr>
          <p:cNvSpPr>
            <a:spLocks noGrp="1"/>
          </p:cNvSpPr>
          <p:nvPr/>
        </p:nvSpPr>
        <p:spPr>
          <a:xfrm>
            <a:off x="685800" y="2333625"/>
            <a:ext cx="6667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0" i="0">
                <a:solidFill>
                  <a:srgbClr val="52606D"/>
                </a:solidFill>
              </a:defRPr>
            </a:pPr>
            <a:r>
              <a:rPr sz="1800" b="0" i="0">
                <a:solidFill>
                  <a:srgbClr val="52606D"/>
                </a:solidFill>
              </a:rPr>
              <a:t>From broad rules to precise investigation queues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2FA4215-ECC0-4AA4-AA92-4937F72400D9}"/>
              </a:ext>
            </a:extLst>
          </p:cNvPr>
          <p:cNvSpPr>
            <a:spLocks noGrp="1"/>
          </p:cNvSpPr>
          <p:nvPr/>
        </p:nvSpPr>
        <p:spPr>
          <a:xfrm>
            <a:off x="685800" y="3667125"/>
            <a:ext cx="1543050" cy="57150"/>
          </a:xfrm>
          <a:prstGeom prst="rect">
            <a:avLst/>
          </a:prstGeom>
          <a:solidFill>
            <a:srgbClr val="12A6B5"/>
          </a:solidFill>
          <a:ln w="0">
            <a:solidFill>
              <a:srgbClr val="12A6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76B6C4-13C0-4528-8286-7D0232C9CF37}"/>
              </a:ext>
            </a:extLst>
          </p:cNvPr>
          <p:cNvSpPr>
            <a:spLocks noGrp="1"/>
          </p:cNvSpPr>
          <p:nvPr/>
        </p:nvSpPr>
        <p:spPr>
          <a:xfrm>
            <a:off x="685800" y="39243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52606D"/>
                </a:solidFill>
              </a:defRPr>
            </a:pPr>
            <a:r>
              <a:rPr sz="1275" b="0" i="0">
                <a:solidFill>
                  <a:srgbClr val="52606D"/>
                </a:solidFill>
              </a:rPr>
              <a:t>Executive decision deck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284279B-A447-4BA1-BE9F-1EEDF21F935F}"/>
              </a:ext>
            </a:extLst>
          </p:cNvPr>
          <p:cNvSpPr>
            <a:spLocks noGrp="1"/>
          </p:cNvSpPr>
          <p:nvPr/>
        </p:nvSpPr>
        <p:spPr>
          <a:xfrm>
            <a:off x="7905750" y="952500"/>
            <a:ext cx="3333750" cy="447675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F946BE-8BAC-4C09-B371-B915C7C9B11F}"/>
              </a:ext>
            </a:extLst>
          </p:cNvPr>
          <p:cNvSpPr>
            <a:spLocks noGrp="1"/>
          </p:cNvSpPr>
          <p:nvPr/>
        </p:nvSpPr>
        <p:spPr>
          <a:xfrm>
            <a:off x="8324850" y="1428750"/>
            <a:ext cx="2428875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6300" b="1" i="0">
                <a:solidFill>
                  <a:srgbClr val="1565C0"/>
                </a:solidFill>
              </a:defRPr>
            </a:pPr>
            <a:r>
              <a:rPr sz="6300" b="1" i="0">
                <a:solidFill>
                  <a:srgbClr val="1565C0"/>
                </a:solidFill>
              </a:rPr>
              <a:t>1%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8CAF77-7688-4912-80A1-D13D6165532B}"/>
              </a:ext>
            </a:extLst>
          </p:cNvPr>
          <p:cNvSpPr>
            <a:spLocks noGrp="1"/>
          </p:cNvSpPr>
          <p:nvPr/>
        </p:nvSpPr>
        <p:spPr>
          <a:xfrm>
            <a:off x="8324850" y="2428875"/>
            <a:ext cx="24288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425" b="1" i="0">
                <a:solidFill>
                  <a:srgbClr val="102A43"/>
                </a:solidFill>
              </a:defRPr>
            </a:pPr>
            <a:r>
              <a:rPr sz="1425" b="1" i="0">
                <a:solidFill>
                  <a:srgbClr val="102A43"/>
                </a:solidFill>
              </a:rPr>
              <a:t>of transactions can be reviewed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37098B-9664-46FE-A985-5114CED48CFF}"/>
              </a:ext>
            </a:extLst>
          </p:cNvPr>
          <p:cNvSpPr>
            <a:spLocks noGrp="1"/>
          </p:cNvSpPr>
          <p:nvPr/>
        </p:nvSpPr>
        <p:spPr>
          <a:xfrm>
            <a:off x="8410575" y="3105150"/>
            <a:ext cx="2333625" cy="9525"/>
          </a:xfrm>
          <a:prstGeom prst="rect">
            <a:avLst/>
          </a:prstGeom>
          <a:solidFill>
            <a:srgbClr val="D9E2EC"/>
          </a:solidFill>
          <a:ln w="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679B39-30DA-4D54-8672-011AB669C0D5}"/>
              </a:ext>
            </a:extLst>
          </p:cNvPr>
          <p:cNvSpPr>
            <a:spLocks noGrp="1"/>
          </p:cNvSpPr>
          <p:nvPr/>
        </p:nvSpPr>
        <p:spPr>
          <a:xfrm>
            <a:off x="8324850" y="3381375"/>
            <a:ext cx="2428875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0" i="0">
                <a:solidFill>
                  <a:srgbClr val="52606D"/>
                </a:solidFill>
              </a:defRPr>
            </a:pPr>
            <a:r>
              <a:rPr sz="1350" b="0" i="0">
                <a:solidFill>
                  <a:srgbClr val="52606D"/>
                </a:solidFill>
              </a:rPr>
              <a:t>The decision is not simply</a:t>
            </a:r>
          </a:p>
          <a:p>
            <a:pPr algn="ctr">
              <a:defRPr sz="1350" b="0" i="0">
                <a:solidFill>
                  <a:srgbClr val="52606D"/>
                </a:solidFill>
              </a:defRPr>
            </a:pPr>
            <a:r>
              <a:rPr sz="1350" b="0" i="0">
                <a:solidFill>
                  <a:srgbClr val="52606D"/>
                </a:solidFill>
              </a:rPr>
              <a:t>“is this fraud?”</a:t>
            </a:r>
          </a:p>
          <a:p>
            <a:endParaRPr sz="1350" b="0" i="0">
              <a:solidFill>
                <a:srgbClr val="52606D"/>
              </a:solidFill>
            </a:endParaRPr>
          </a:p>
          <a:p>
            <a:pPr algn="ctr">
              <a:defRPr sz="1350" b="0" i="0">
                <a:solidFill>
                  <a:srgbClr val="52606D"/>
                </a:solidFill>
              </a:defRPr>
            </a:pPr>
            <a:r>
              <a:rPr sz="1350" b="0" i="0">
                <a:solidFill>
                  <a:srgbClr val="52606D"/>
                </a:solidFill>
              </a:rPr>
              <a:t>It is “what should we review first?”</a:t>
            </a:r>
          </a:p>
        </p:txBody>
      </p:sp>
    </p:spTree>
    <p:extLst>
      <p:ext uri="{BB962C8B-B14F-4D97-AF65-F5344CB8AC3E}">
        <p14:creationId xmlns:p14="http://schemas.microsoft.com/office/powerpoint/2010/main" val="17627834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9D47785-D035-4F8F-A9D4-48DCFEC0C44E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1565C0"/>
                </a:solidFill>
              </a:defRPr>
            </a:pPr>
            <a:r>
              <a:rPr sz="1050" b="1" i="0">
                <a:solidFill>
                  <a:srgbClr val="1565C0"/>
                </a:solidFill>
              </a:rPr>
              <a:t>EXECUTIVE DECISION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7323EA-DC4F-49F6-BC39-A3543145BEBF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75" b="1" i="0">
                <a:solidFill>
                  <a:srgbClr val="102A43"/>
                </a:solidFill>
              </a:defRPr>
            </a:pPr>
            <a:r>
              <a:rPr sz="2775" b="1" i="0">
                <a:solidFill>
                  <a:srgbClr val="102A43"/>
                </a:solidFill>
              </a:rPr>
              <a:t>Approve ML prioritization — deployed as Strategy 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B2B9DF-FEF1-4D5A-97DA-BC175E345FB1}"/>
              </a:ext>
            </a:extLst>
          </p:cNvPr>
          <p:cNvSpPr>
            <a:spLocks noGrp="1"/>
          </p:cNvSpPr>
          <p:nvPr/>
        </p:nvSpPr>
        <p:spPr>
          <a:xfrm>
            <a:off x="685800" y="1295400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52606D"/>
                </a:solidFill>
              </a:defRPr>
            </a:pPr>
            <a:r>
              <a:rPr sz="1350" b="0" i="0">
                <a:solidFill>
                  <a:srgbClr val="52606D"/>
                </a:solidFill>
              </a:rPr>
              <a:t>Probability-ranked Logistic Regression materially improves case capture at the same investigator capacity.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25F7CA-F71C-4F42-AED5-D104075588A3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10820400" cy="9525"/>
          </a:xfrm>
          <a:prstGeom prst="rect">
            <a:avLst/>
          </a:prstGeom>
          <a:solidFill>
            <a:srgbClr val="D9E2EC"/>
          </a:solidFill>
          <a:ln w="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5AAA560-68A7-469F-89A7-FC53A6D97D37}"/>
              </a:ext>
            </a:extLst>
          </p:cNvPr>
          <p:cNvSpPr>
            <a:spLocks noGrp="1"/>
          </p:cNvSpPr>
          <p:nvPr/>
        </p:nvSpPr>
        <p:spPr>
          <a:xfrm>
            <a:off x="685800" y="2190750"/>
            <a:ext cx="3200400" cy="1524000"/>
          </a:xfrm>
          <a:prstGeom prst="roundRect">
            <a:avLst>
              <a:gd name="adj" fmla="val 8750"/>
            </a:avLst>
          </a:prstGeom>
          <a:solidFill>
            <a:srgbClr val="EAF3FF"/>
          </a:solidFill>
          <a:ln w="9525">
            <a:solidFill>
              <a:srgbClr val="EAF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54A8221-592F-43F0-BC80-674521276EF4}"/>
              </a:ext>
            </a:extLst>
          </p:cNvPr>
          <p:cNvSpPr>
            <a:spLocks noGrp="1"/>
          </p:cNvSpPr>
          <p:nvPr/>
        </p:nvSpPr>
        <p:spPr>
          <a:xfrm>
            <a:off x="876300" y="2352675"/>
            <a:ext cx="2819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 i="0">
                <a:solidFill>
                  <a:srgbClr val="1565C0"/>
                </a:solidFill>
              </a:defRPr>
            </a:pPr>
            <a:r>
              <a:rPr sz="2550" b="1" i="0">
                <a:solidFill>
                  <a:srgbClr val="1565C0"/>
                </a:solidFill>
              </a:rPr>
              <a:t>98.8%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489EE24-5343-4DA5-B242-60CEBA1C5B23}"/>
              </a:ext>
            </a:extLst>
          </p:cNvPr>
          <p:cNvSpPr>
            <a:spLocks noGrp="1"/>
          </p:cNvSpPr>
          <p:nvPr/>
        </p:nvSpPr>
        <p:spPr>
          <a:xfrm>
            <a:off x="876300" y="2847975"/>
            <a:ext cx="2819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Fraud cases captured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BA2285-1CA0-4447-823A-ADE1BDFBF839}"/>
              </a:ext>
            </a:extLst>
          </p:cNvPr>
          <p:cNvSpPr>
            <a:spLocks noGrp="1"/>
          </p:cNvSpPr>
          <p:nvPr/>
        </p:nvSpPr>
        <p:spPr>
          <a:xfrm>
            <a:off x="876300" y="3381375"/>
            <a:ext cx="2819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 i="0">
                <a:solidFill>
                  <a:srgbClr val="52606D"/>
                </a:solidFill>
              </a:defRPr>
            </a:pPr>
            <a:r>
              <a:rPr sz="975" b="0" i="0">
                <a:solidFill>
                  <a:srgbClr val="52606D"/>
                </a:solidFill>
              </a:rPr>
              <a:t>vs. 32.5% with rule baseline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D1A3C4B-00F9-4851-B513-F89223BF6FC0}"/>
              </a:ext>
            </a:extLst>
          </p:cNvPr>
          <p:cNvSpPr>
            <a:spLocks noGrp="1"/>
          </p:cNvSpPr>
          <p:nvPr/>
        </p:nvSpPr>
        <p:spPr>
          <a:xfrm>
            <a:off x="4229100" y="2190750"/>
            <a:ext cx="3200400" cy="1524000"/>
          </a:xfrm>
          <a:prstGeom prst="roundRect">
            <a:avLst>
              <a:gd name="adj" fmla="val 8750"/>
            </a:avLst>
          </a:prstGeom>
          <a:solidFill>
            <a:srgbClr val="E6F7F5"/>
          </a:solidFill>
          <a:ln w="9525">
            <a:solidFill>
              <a:srgbClr val="E6F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D160A3-59BF-4E5C-AA2C-13AC0C76FBB8}"/>
              </a:ext>
            </a:extLst>
          </p:cNvPr>
          <p:cNvSpPr>
            <a:spLocks noGrp="1"/>
          </p:cNvSpPr>
          <p:nvPr/>
        </p:nvSpPr>
        <p:spPr>
          <a:xfrm>
            <a:off x="4419600" y="2352675"/>
            <a:ext cx="2819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 i="0">
                <a:solidFill>
                  <a:srgbClr val="0F766E"/>
                </a:solidFill>
              </a:defRPr>
            </a:pPr>
            <a:r>
              <a:rPr sz="2550" b="1" i="0">
                <a:solidFill>
                  <a:srgbClr val="0F766E"/>
                </a:solidFill>
              </a:rPr>
              <a:t>97.9%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0B207C3-B835-4DA1-B47A-2663D1B3C6EF}"/>
              </a:ext>
            </a:extLst>
          </p:cNvPr>
          <p:cNvSpPr>
            <a:spLocks noGrp="1"/>
          </p:cNvSpPr>
          <p:nvPr/>
        </p:nvSpPr>
        <p:spPr>
          <a:xfrm>
            <a:off x="4419600" y="2847975"/>
            <a:ext cx="2819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Fraud value captured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F2751E8-D06E-4404-B3AD-373093164FD3}"/>
              </a:ext>
            </a:extLst>
          </p:cNvPr>
          <p:cNvSpPr>
            <a:spLocks noGrp="1"/>
          </p:cNvSpPr>
          <p:nvPr/>
        </p:nvSpPr>
        <p:spPr>
          <a:xfrm>
            <a:off x="4419600" y="3381375"/>
            <a:ext cx="2819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 i="0">
                <a:solidFill>
                  <a:srgbClr val="52606D"/>
                </a:solidFill>
              </a:defRPr>
            </a:pPr>
            <a:r>
              <a:rPr sz="975" b="0" i="0">
                <a:solidFill>
                  <a:srgbClr val="52606D"/>
                </a:solidFill>
              </a:rPr>
              <a:t>vs. 76.3% with rule baseline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87B30D96-1060-4FE3-9E40-386D9BCC1445}"/>
              </a:ext>
            </a:extLst>
          </p:cNvPr>
          <p:cNvSpPr>
            <a:spLocks noGrp="1"/>
          </p:cNvSpPr>
          <p:nvPr/>
        </p:nvSpPr>
        <p:spPr>
          <a:xfrm>
            <a:off x="7772400" y="2190750"/>
            <a:ext cx="3200400" cy="1524000"/>
          </a:xfrm>
          <a:prstGeom prst="roundRect">
            <a:avLst>
              <a:gd name="adj" fmla="val 8750"/>
            </a:avLst>
          </a:prstGeom>
          <a:solidFill>
            <a:srgbClr val="FFF7E6"/>
          </a:solidFill>
          <a:ln w="9525">
            <a:solidFill>
              <a:srgbClr val="FFF7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A9FDF2F-492A-4056-A110-FF27BE76637E}"/>
              </a:ext>
            </a:extLst>
          </p:cNvPr>
          <p:cNvSpPr>
            <a:spLocks noGrp="1"/>
          </p:cNvSpPr>
          <p:nvPr/>
        </p:nvSpPr>
        <p:spPr>
          <a:xfrm>
            <a:off x="7962900" y="2352675"/>
            <a:ext cx="28194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 i="0">
                <a:solidFill>
                  <a:srgbClr val="B7791F"/>
                </a:solidFill>
              </a:defRPr>
            </a:pPr>
            <a:r>
              <a:rPr sz="2550" b="1" i="0">
                <a:solidFill>
                  <a:srgbClr val="B7791F"/>
                </a:solidFill>
              </a:rPr>
              <a:t>7.9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5D46C60-2DA0-4CB0-AC1F-722ABE25543A}"/>
              </a:ext>
            </a:extLst>
          </p:cNvPr>
          <p:cNvSpPr>
            <a:spLocks noGrp="1"/>
          </p:cNvSpPr>
          <p:nvPr/>
        </p:nvSpPr>
        <p:spPr>
          <a:xfrm>
            <a:off x="7962900" y="2847975"/>
            <a:ext cx="2819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Reviews per fraud detected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8DBB96E-071E-4322-B4E6-640107DF4C8C}"/>
              </a:ext>
            </a:extLst>
          </p:cNvPr>
          <p:cNvSpPr>
            <a:spLocks noGrp="1"/>
          </p:cNvSpPr>
          <p:nvPr/>
        </p:nvSpPr>
        <p:spPr>
          <a:xfrm>
            <a:off x="7962900" y="3381375"/>
            <a:ext cx="2819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 i="0">
                <a:solidFill>
                  <a:srgbClr val="52606D"/>
                </a:solidFill>
              </a:defRPr>
            </a:pPr>
            <a:r>
              <a:rPr sz="975" b="0" i="0">
                <a:solidFill>
                  <a:srgbClr val="52606D"/>
                </a:solidFill>
              </a:rPr>
              <a:t>vs. 24.0 with rule baseline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EC66B47C-93F4-407C-86D9-05E6A03C7805}"/>
              </a:ext>
            </a:extLst>
          </p:cNvPr>
          <p:cNvSpPr>
            <a:spLocks noGrp="1"/>
          </p:cNvSpPr>
          <p:nvPr/>
        </p:nvSpPr>
        <p:spPr>
          <a:xfrm>
            <a:off x="685800" y="4191000"/>
            <a:ext cx="10287000" cy="1333500"/>
          </a:xfrm>
          <a:prstGeom prst="roundRect">
            <a:avLst>
              <a:gd name="adj" fmla="val 11429"/>
            </a:avLst>
          </a:prstGeom>
          <a:solidFill>
            <a:srgbClr val="F4F7FA"/>
          </a:solidFill>
          <a:ln w="9525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61EC484-DD32-499E-A069-D16673B18EAD}"/>
              </a:ext>
            </a:extLst>
          </p:cNvPr>
          <p:cNvSpPr>
            <a:spLocks noGrp="1"/>
          </p:cNvSpPr>
          <p:nvPr/>
        </p:nvSpPr>
        <p:spPr>
          <a:xfrm>
            <a:off x="933450" y="4438650"/>
            <a:ext cx="1809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 i="0">
                <a:solidFill>
                  <a:srgbClr val="1565C0"/>
                </a:solidFill>
              </a:defRPr>
            </a:pPr>
            <a:r>
              <a:rPr sz="1350" b="1" i="0">
                <a:solidFill>
                  <a:srgbClr val="1565C0"/>
                </a:solidFill>
              </a:rPr>
              <a:t>Recommendation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C211EC1-AA31-479F-9DC3-F5F278DFAB0C}"/>
              </a:ext>
            </a:extLst>
          </p:cNvPr>
          <p:cNvSpPr>
            <a:spLocks noGrp="1"/>
          </p:cNvSpPr>
          <p:nvPr/>
        </p:nvSpPr>
        <p:spPr>
          <a:xfrm>
            <a:off x="933450" y="4819650"/>
            <a:ext cx="9525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02A43"/>
                </a:solidFill>
              </a:defRPr>
            </a:pPr>
            <a:r>
              <a:rPr sz="1650" b="1" i="0">
                <a:solidFill>
                  <a:srgbClr val="102A43"/>
                </a:solidFill>
              </a:rPr>
              <a:t>Adopt Strategy A: rank the top 1% of transactions by P(Fraud), retain the Phase 1 rule as a guardrail, and monitor performance as new feedback arrives.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852CE3F-6156-4D6F-ACB9-1A214513D1C3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571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0" i="0">
                <a:solidFill>
                  <a:srgbClr val="7B8794"/>
                </a:solidFill>
              </a:defRPr>
            </a:pPr>
            <a:r>
              <a:rPr sz="825" b="0" i="0">
                <a:solidFill>
                  <a:srgbClr val="7B8794"/>
                </a:solidFill>
              </a:rPr>
              <a:t>Fraud prioritization  |  Executive findings  |  02</a:t>
            </a:r>
          </a:p>
        </p:txBody>
      </p:sp>
    </p:spTree>
    <p:extLst>
      <p:ext uri="{BB962C8B-B14F-4D97-AF65-F5344CB8AC3E}">
        <p14:creationId xmlns:p14="http://schemas.microsoft.com/office/powerpoint/2010/main" val="17462667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D20D3340-0FE4-4393-9909-94840F943E99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1565C0"/>
                </a:solidFill>
              </a:defRPr>
            </a:pPr>
            <a:r>
              <a:rPr sz="1050" b="1" i="0">
                <a:solidFill>
                  <a:srgbClr val="1565C0"/>
                </a:solidFill>
              </a:rPr>
              <a:t>1. DESCRIBE, ALIGN &amp; INVESTIGATE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B0BF3B3-587A-476B-940D-CB542A95E9CB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75" b="1" i="0">
                <a:solidFill>
                  <a:srgbClr val="102A43"/>
                </a:solidFill>
              </a:defRPr>
            </a:pPr>
            <a:r>
              <a:rPr sz="2775" b="1" i="0">
                <a:solidFill>
                  <a:srgbClr val="102A43"/>
                </a:solidFill>
              </a:rPr>
              <a:t>A 1% review queue turns fraud detection into ranking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A22AD27-96F7-4411-B735-1369582BD448}"/>
              </a:ext>
            </a:extLst>
          </p:cNvPr>
          <p:cNvSpPr>
            <a:spLocks noGrp="1"/>
          </p:cNvSpPr>
          <p:nvPr/>
        </p:nvSpPr>
        <p:spPr>
          <a:xfrm>
            <a:off x="685800" y="1295400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52606D"/>
                </a:solidFill>
              </a:defRPr>
            </a:pPr>
            <a:r>
              <a:rPr sz="1350" b="0" i="0">
                <a:solidFill>
                  <a:srgbClr val="52606D"/>
                </a:solidFill>
              </a:rPr>
              <a:t>We must place the highest-risk transactions at the top of a fixed 1% queue.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0278A6-98B1-407F-BDC6-24D472DC871C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10820400" cy="9525"/>
          </a:xfrm>
          <a:prstGeom prst="rect">
            <a:avLst/>
          </a:prstGeom>
          <a:solidFill>
            <a:srgbClr val="D9E2EC"/>
          </a:solidFill>
          <a:ln w="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ED2A89B-9B02-4651-A575-6784640225B5}"/>
              </a:ext>
            </a:extLst>
          </p:cNvPr>
          <p:cNvSpPr>
            <a:spLocks noGrp="1"/>
          </p:cNvSpPr>
          <p:nvPr/>
        </p:nvSpPr>
        <p:spPr>
          <a:xfrm>
            <a:off x="685800" y="2190750"/>
            <a:ext cx="4476750" cy="2952750"/>
          </a:xfrm>
          <a:prstGeom prst="roundRect">
            <a:avLst>
              <a:gd name="adj" fmla="val 5806"/>
            </a:avLst>
          </a:prstGeom>
          <a:solidFill>
            <a:srgbClr val="F4F7FA"/>
          </a:solidFill>
          <a:ln w="9525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E2F5A7-68C1-4285-9CDE-84BF640FE025}"/>
              </a:ext>
            </a:extLst>
          </p:cNvPr>
          <p:cNvSpPr>
            <a:spLocks noGrp="1"/>
          </p:cNvSpPr>
          <p:nvPr/>
        </p:nvSpPr>
        <p:spPr>
          <a:xfrm>
            <a:off x="990600" y="2505075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02A43"/>
                </a:solidFill>
              </a:defRPr>
            </a:pPr>
            <a:r>
              <a:rPr sz="1650" b="1" i="0">
                <a:solidFill>
                  <a:srgbClr val="102A43"/>
                </a:solidFill>
              </a:rPr>
              <a:t>The operating constraint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755295-5727-4B15-949D-3F923502829C}"/>
              </a:ext>
            </a:extLst>
          </p:cNvPr>
          <p:cNvSpPr>
            <a:spLocks noGrp="1"/>
          </p:cNvSpPr>
          <p:nvPr/>
        </p:nvSpPr>
        <p:spPr>
          <a:xfrm>
            <a:off x="990600" y="3000375"/>
            <a:ext cx="35718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0" i="0">
                <a:solidFill>
                  <a:srgbClr val="102A43"/>
                </a:solidFill>
              </a:defRPr>
            </a:pPr>
            <a:r>
              <a:rPr sz="1725" b="0" i="0">
                <a:solidFill>
                  <a:srgbClr val="102A43"/>
                </a:solidFill>
              </a:rPr>
              <a:t>Investigators can review only ~1% of all transactions.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07DD921-5E35-4F87-81B4-60B233A0DCEF}"/>
              </a:ext>
            </a:extLst>
          </p:cNvPr>
          <p:cNvSpPr>
            <a:spLocks noGrp="1"/>
          </p:cNvSpPr>
          <p:nvPr/>
        </p:nvSpPr>
        <p:spPr>
          <a:xfrm>
            <a:off x="990600" y="3752850"/>
            <a:ext cx="3524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52606D"/>
                </a:solidFill>
              </a:defRPr>
            </a:pPr>
            <a:r>
              <a:rPr sz="1275" b="0" i="0">
                <a:solidFill>
                  <a:srgbClr val="52606D"/>
                </a:solidFill>
              </a:rPr>
              <a:t>A useful solution therefore ranks risk—not merely labels transactions as fraud or legitimate.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D9C1925-2FF3-447C-A7D5-B4810CA38D48}"/>
              </a:ext>
            </a:extLst>
          </p:cNvPr>
          <p:cNvSpPr>
            <a:spLocks noGrp="1"/>
          </p:cNvSpPr>
          <p:nvPr/>
        </p:nvSpPr>
        <p:spPr>
          <a:xfrm>
            <a:off x="5810250" y="2190750"/>
            <a:ext cx="2381250" cy="1428750"/>
          </a:xfrm>
          <a:prstGeom prst="roundRect">
            <a:avLst>
              <a:gd name="adj" fmla="val 9333"/>
            </a:avLst>
          </a:prstGeom>
          <a:solidFill>
            <a:srgbClr val="EAF3FF"/>
          </a:solidFill>
          <a:ln w="9525">
            <a:solidFill>
              <a:srgbClr val="EAF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9B5545-C982-4D8D-8A8B-B9716461263C}"/>
              </a:ext>
            </a:extLst>
          </p:cNvPr>
          <p:cNvSpPr>
            <a:spLocks noGrp="1"/>
          </p:cNvSpPr>
          <p:nvPr/>
        </p:nvSpPr>
        <p:spPr>
          <a:xfrm>
            <a:off x="6000750" y="2352675"/>
            <a:ext cx="2000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 i="0">
                <a:solidFill>
                  <a:srgbClr val="1565C0"/>
                </a:solidFill>
              </a:defRPr>
            </a:pPr>
            <a:r>
              <a:rPr sz="2550" b="1" i="0">
                <a:solidFill>
                  <a:srgbClr val="1565C0"/>
                </a:solidFill>
              </a:rPr>
              <a:t>509k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87EB649-B045-4243-8AC8-AB38D18874C8}"/>
              </a:ext>
            </a:extLst>
          </p:cNvPr>
          <p:cNvSpPr>
            <a:spLocks noGrp="1"/>
          </p:cNvSpPr>
          <p:nvPr/>
        </p:nvSpPr>
        <p:spPr>
          <a:xfrm>
            <a:off x="6000750" y="2847975"/>
            <a:ext cx="2000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labeled training transactions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8271C276-C135-43D2-9E88-DD3153978F68}"/>
              </a:ext>
            </a:extLst>
          </p:cNvPr>
          <p:cNvSpPr>
            <a:spLocks noGrp="1"/>
          </p:cNvSpPr>
          <p:nvPr/>
        </p:nvSpPr>
        <p:spPr>
          <a:xfrm>
            <a:off x="8477250" y="2190750"/>
            <a:ext cx="2381250" cy="1428750"/>
          </a:xfrm>
          <a:prstGeom prst="roundRect">
            <a:avLst>
              <a:gd name="adj" fmla="val 9333"/>
            </a:avLst>
          </a:prstGeom>
          <a:solidFill>
            <a:srgbClr val="FDEEEF"/>
          </a:solidFill>
          <a:ln w="9525">
            <a:solidFill>
              <a:srgbClr val="FDEE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36AD745-CECE-4560-B95F-BCB25B2269EC}"/>
              </a:ext>
            </a:extLst>
          </p:cNvPr>
          <p:cNvSpPr>
            <a:spLocks noGrp="1"/>
          </p:cNvSpPr>
          <p:nvPr/>
        </p:nvSpPr>
        <p:spPr>
          <a:xfrm>
            <a:off x="8667750" y="2352675"/>
            <a:ext cx="2000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 i="0">
                <a:solidFill>
                  <a:srgbClr val="C2414A"/>
                </a:solidFill>
              </a:defRPr>
            </a:pPr>
            <a:r>
              <a:rPr sz="2550" b="1" i="0">
                <a:solidFill>
                  <a:srgbClr val="C2414A"/>
                </a:solidFill>
              </a:rPr>
              <a:t>654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0E881E8-FE2A-4C9D-A865-8ECBFCFA9F93}"/>
              </a:ext>
            </a:extLst>
          </p:cNvPr>
          <p:cNvSpPr>
            <a:spLocks noGrp="1"/>
          </p:cNvSpPr>
          <p:nvPr/>
        </p:nvSpPr>
        <p:spPr>
          <a:xfrm>
            <a:off x="8667750" y="2847975"/>
            <a:ext cx="2000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fraud cases in training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6A1CFC4-9DC4-4CAE-8000-6C723337CF9A}"/>
              </a:ext>
            </a:extLst>
          </p:cNvPr>
          <p:cNvSpPr>
            <a:spLocks noGrp="1"/>
          </p:cNvSpPr>
          <p:nvPr/>
        </p:nvSpPr>
        <p:spPr>
          <a:xfrm>
            <a:off x="5810250" y="3905250"/>
            <a:ext cx="2381250" cy="1428750"/>
          </a:xfrm>
          <a:prstGeom prst="roundRect">
            <a:avLst>
              <a:gd name="adj" fmla="val 9333"/>
            </a:avLst>
          </a:prstGeom>
          <a:solidFill>
            <a:srgbClr val="FFF7E6"/>
          </a:solidFill>
          <a:ln w="9525">
            <a:solidFill>
              <a:srgbClr val="FFF7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A790B85-70E2-45C2-B190-2A07D0E191F3}"/>
              </a:ext>
            </a:extLst>
          </p:cNvPr>
          <p:cNvSpPr>
            <a:spLocks noGrp="1"/>
          </p:cNvSpPr>
          <p:nvPr/>
        </p:nvSpPr>
        <p:spPr>
          <a:xfrm>
            <a:off x="6000750" y="4067175"/>
            <a:ext cx="2000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 i="0">
                <a:solidFill>
                  <a:srgbClr val="B7791F"/>
                </a:solidFill>
              </a:defRPr>
            </a:pPr>
            <a:r>
              <a:rPr sz="2550" b="1" i="0">
                <a:solidFill>
                  <a:srgbClr val="B7791F"/>
                </a:solidFill>
              </a:rPr>
              <a:t>0.13%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44040A5-281C-4406-A32D-823C4E9BFA47}"/>
              </a:ext>
            </a:extLst>
          </p:cNvPr>
          <p:cNvSpPr>
            <a:spLocks noGrp="1"/>
          </p:cNvSpPr>
          <p:nvPr/>
        </p:nvSpPr>
        <p:spPr>
          <a:xfrm>
            <a:off x="6000750" y="4562475"/>
            <a:ext cx="2000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underlying fraud rate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2E13FB3-6062-44E3-A4A0-ACDEDCEAEF50}"/>
              </a:ext>
            </a:extLst>
          </p:cNvPr>
          <p:cNvSpPr>
            <a:spLocks noGrp="1"/>
          </p:cNvSpPr>
          <p:nvPr/>
        </p:nvSpPr>
        <p:spPr>
          <a:xfrm>
            <a:off x="8477250" y="3905250"/>
            <a:ext cx="2381250" cy="1428750"/>
          </a:xfrm>
          <a:prstGeom prst="roundRect">
            <a:avLst>
              <a:gd name="adj" fmla="val 9333"/>
            </a:avLst>
          </a:prstGeom>
          <a:solidFill>
            <a:srgbClr val="E6F7F5"/>
          </a:solidFill>
          <a:ln w="9525">
            <a:solidFill>
              <a:srgbClr val="E6F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2846185-5A89-413C-8854-385392AF228E}"/>
              </a:ext>
            </a:extLst>
          </p:cNvPr>
          <p:cNvSpPr>
            <a:spLocks noGrp="1"/>
          </p:cNvSpPr>
          <p:nvPr/>
        </p:nvSpPr>
        <p:spPr>
          <a:xfrm>
            <a:off x="8667750" y="4067175"/>
            <a:ext cx="2000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550" b="1" i="0">
                <a:solidFill>
                  <a:srgbClr val="0F766E"/>
                </a:solidFill>
              </a:defRPr>
            </a:pPr>
            <a:r>
              <a:rPr sz="2550" b="1" i="0">
                <a:solidFill>
                  <a:srgbClr val="0F766E"/>
                </a:solidFill>
              </a:rPr>
              <a:t>1%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E896294-460B-40AE-A807-F71A296F50A1}"/>
              </a:ext>
            </a:extLst>
          </p:cNvPr>
          <p:cNvSpPr>
            <a:spLocks noGrp="1"/>
          </p:cNvSpPr>
          <p:nvPr/>
        </p:nvSpPr>
        <p:spPr>
          <a:xfrm>
            <a:off x="8667750" y="4562475"/>
            <a:ext cx="2000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available review queue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FC8EE8D-71E4-4A22-9603-E9629F793773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571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0" i="0">
                <a:solidFill>
                  <a:srgbClr val="7B8794"/>
                </a:solidFill>
              </a:defRPr>
            </a:pPr>
            <a:r>
              <a:rPr sz="825" b="0" i="0">
                <a:solidFill>
                  <a:srgbClr val="7B8794"/>
                </a:solidFill>
              </a:rPr>
              <a:t>Fraud prioritization  |  Executive findings  |  03</a:t>
            </a:r>
          </a:p>
        </p:txBody>
      </p:sp>
    </p:spTree>
    <p:extLst>
      <p:ext uri="{BB962C8B-B14F-4D97-AF65-F5344CB8AC3E}">
        <p14:creationId xmlns:p14="http://schemas.microsoft.com/office/powerpoint/2010/main" val="1115117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C1665D8-8313-4A5A-AFF1-04922948C4C1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1565C0"/>
                </a:solidFill>
              </a:defRPr>
            </a:pPr>
            <a:r>
              <a:rPr sz="1050" b="1" i="0">
                <a:solidFill>
                  <a:srgbClr val="1565C0"/>
                </a:solidFill>
              </a:rPr>
              <a:t>1. DESCRIBE, ALIGN &amp; INVESTIGATE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8CED1AB-EDBB-437B-B4BE-944AB151501F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75" b="1" i="0">
                <a:solidFill>
                  <a:srgbClr val="102A43"/>
                </a:solidFill>
              </a:defRPr>
            </a:pPr>
            <a:r>
              <a:rPr sz="2775" b="1" i="0">
                <a:solidFill>
                  <a:srgbClr val="102A43"/>
                </a:solidFill>
              </a:rPr>
              <a:t>Rules help—but cannot prioritize tightly enough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0773455-989D-48A7-A773-6C29FE8FE553}"/>
              </a:ext>
            </a:extLst>
          </p:cNvPr>
          <p:cNvSpPr>
            <a:spLocks noGrp="1"/>
          </p:cNvSpPr>
          <p:nvPr/>
        </p:nvSpPr>
        <p:spPr>
          <a:xfrm>
            <a:off x="685800" y="1295400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52606D"/>
                </a:solidFill>
              </a:defRPr>
            </a:pPr>
            <a:r>
              <a:rPr sz="1350" b="0" i="0">
                <a:solidFill>
                  <a:srgbClr val="52606D"/>
                </a:solidFill>
              </a:rPr>
              <a:t>Fraud has a clear behavioral signature, but the signature is too broad for a 1% queue.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6E7CD2-9B71-4182-9485-27592E8FE46C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10820400" cy="9525"/>
          </a:xfrm>
          <a:prstGeom prst="rect">
            <a:avLst/>
          </a:prstGeom>
          <a:solidFill>
            <a:srgbClr val="D9E2EC"/>
          </a:solidFill>
          <a:ln w="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DD1CE77-42B0-48F0-8665-C35A19715112}"/>
              </a:ext>
            </a:extLst>
          </p:cNvPr>
          <p:cNvSpPr>
            <a:spLocks noGrp="1"/>
          </p:cNvSpPr>
          <p:nvPr/>
        </p:nvSpPr>
        <p:spPr>
          <a:xfrm>
            <a:off x="685800" y="2143125"/>
            <a:ext cx="4905375" cy="34290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607000-64E4-43D3-BD24-B85E92B35858}"/>
              </a:ext>
            </a:extLst>
          </p:cNvPr>
          <p:cNvSpPr>
            <a:spLocks noGrp="1"/>
          </p:cNvSpPr>
          <p:nvPr/>
        </p:nvSpPr>
        <p:spPr>
          <a:xfrm>
            <a:off x="933450" y="2381250"/>
            <a:ext cx="4286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1" i="0">
                <a:solidFill>
                  <a:srgbClr val="102A43"/>
                </a:solidFill>
              </a:defRPr>
            </a:pPr>
            <a:r>
              <a:rPr sz="1425" b="1" i="0">
                <a:solidFill>
                  <a:srgbClr val="102A43"/>
                </a:solidFill>
              </a:rPr>
              <a:t>Fraud rate by transaction type (basis points)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="952500" y="2809875"/>
          <a:ext cx="4000500" cy="2190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26050F2-4442-4E78-BC36-952686B97B5C}"/>
              </a:ext>
            </a:extLst>
          </p:cNvPr>
          <p:cNvSpPr>
            <a:spLocks noGrp="1"/>
          </p:cNvSpPr>
          <p:nvPr/>
        </p:nvSpPr>
        <p:spPr>
          <a:xfrm>
            <a:off x="6000750" y="2143125"/>
            <a:ext cx="4972050" cy="3429000"/>
          </a:xfrm>
          <a:prstGeom prst="roundRect">
            <a:avLst>
              <a:gd name="adj" fmla="val 4444"/>
            </a:avLst>
          </a:prstGeom>
          <a:solidFill>
            <a:srgbClr val="F4F7FA"/>
          </a:solidFill>
          <a:ln w="9525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428A8D-4C0B-47AB-878C-75F5141ED603}"/>
              </a:ext>
            </a:extLst>
          </p:cNvPr>
          <p:cNvSpPr>
            <a:spLocks noGrp="1"/>
          </p:cNvSpPr>
          <p:nvPr/>
        </p:nvSpPr>
        <p:spPr>
          <a:xfrm>
            <a:off x="6286500" y="2381250"/>
            <a:ext cx="4191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1" i="0">
                <a:solidFill>
                  <a:srgbClr val="102A43"/>
                </a:solidFill>
              </a:defRPr>
            </a:pPr>
            <a:r>
              <a:rPr sz="1425" b="1" i="0">
                <a:solidFill>
                  <a:srgbClr val="102A43"/>
                </a:solidFill>
              </a:rPr>
              <a:t>The rule signal is real but over-inclusive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827423F-B8F5-4808-A583-EE8ED065491D}"/>
              </a:ext>
            </a:extLst>
          </p:cNvPr>
          <p:cNvSpPr>
            <a:spLocks noGrp="1"/>
          </p:cNvSpPr>
          <p:nvPr/>
        </p:nvSpPr>
        <p:spPr>
          <a:xfrm>
            <a:off x="6305550" y="2981325"/>
            <a:ext cx="1238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400" b="1" i="0">
                <a:solidFill>
                  <a:srgbClr val="C2414A"/>
                </a:solidFill>
              </a:defRPr>
            </a:pPr>
            <a:r>
              <a:rPr sz="2400" b="1" i="0">
                <a:solidFill>
                  <a:srgbClr val="C2414A"/>
                </a:solidFill>
              </a:rPr>
              <a:t>98.8%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D70DCF7-49E5-4CBF-BACB-06F7A6406400}"/>
              </a:ext>
            </a:extLst>
          </p:cNvPr>
          <p:cNvSpPr>
            <a:spLocks noGrp="1"/>
          </p:cNvSpPr>
          <p:nvPr/>
        </p:nvSpPr>
        <p:spPr>
          <a:xfrm>
            <a:off x="7620000" y="3057525"/>
            <a:ext cx="27622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52606D"/>
                </a:solidFill>
              </a:defRPr>
            </a:pPr>
            <a:r>
              <a:rPr sz="1275" b="0" i="0">
                <a:solidFill>
                  <a:srgbClr val="52606D"/>
                </a:solidFill>
              </a:rPr>
              <a:t>of fraud empties the sender balance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034FA8-55FC-49C5-B198-156805D51898}"/>
              </a:ext>
            </a:extLst>
          </p:cNvPr>
          <p:cNvSpPr>
            <a:spLocks noGrp="1"/>
          </p:cNvSpPr>
          <p:nvPr/>
        </p:nvSpPr>
        <p:spPr>
          <a:xfrm>
            <a:off x="6305550" y="3562350"/>
            <a:ext cx="1238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400" b="1" i="0">
                <a:solidFill>
                  <a:srgbClr val="B7791F"/>
                </a:solidFill>
              </a:defRPr>
            </a:pPr>
            <a:r>
              <a:rPr sz="2400" b="1" i="0">
                <a:solidFill>
                  <a:srgbClr val="B7791F"/>
                </a:solidFill>
              </a:rPr>
              <a:t>90.1%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AD65256-DF7B-4D3C-9E72-9E4D42EFAA86}"/>
              </a:ext>
            </a:extLst>
          </p:cNvPr>
          <p:cNvSpPr>
            <a:spLocks noGrp="1"/>
          </p:cNvSpPr>
          <p:nvPr/>
        </p:nvSpPr>
        <p:spPr>
          <a:xfrm>
            <a:off x="7620000" y="3638550"/>
            <a:ext cx="2857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52606D"/>
                </a:solidFill>
              </a:defRPr>
            </a:pPr>
            <a:r>
              <a:rPr sz="1275" b="0" i="0">
                <a:solidFill>
                  <a:srgbClr val="52606D"/>
                </a:solidFill>
              </a:rPr>
              <a:t>of legitimate transfer/cash-out also does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20B6D05-9ED8-4805-BB56-C11CB3CA14F0}"/>
              </a:ext>
            </a:extLst>
          </p:cNvPr>
          <p:cNvSpPr>
            <a:spLocks noGrp="1"/>
          </p:cNvSpPr>
          <p:nvPr/>
        </p:nvSpPr>
        <p:spPr>
          <a:xfrm>
            <a:off x="6305550" y="4143375"/>
            <a:ext cx="4000500" cy="9525"/>
          </a:xfrm>
          <a:prstGeom prst="rect">
            <a:avLst/>
          </a:prstGeom>
          <a:solidFill>
            <a:srgbClr val="D9E2EC"/>
          </a:solidFill>
          <a:ln w="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F3EE3A3-28FB-4529-AAC3-12A443E1827A}"/>
              </a:ext>
            </a:extLst>
          </p:cNvPr>
          <p:cNvSpPr>
            <a:spLocks noGrp="1"/>
          </p:cNvSpPr>
          <p:nvPr/>
        </p:nvSpPr>
        <p:spPr>
          <a:xfrm>
            <a:off x="6305550" y="4429125"/>
            <a:ext cx="4095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1" i="0">
                <a:solidFill>
                  <a:srgbClr val="102A43"/>
                </a:solidFill>
              </a:defRPr>
            </a:pPr>
            <a:r>
              <a:rPr sz="1425" b="1" i="0">
                <a:solidFill>
                  <a:srgbClr val="102A43"/>
                </a:solidFill>
              </a:rPr>
              <a:t>The strongest Phase 1 rule matches 18.7% of all transactions—nearly 19× the review capacity.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6DFA2F4-7A95-425B-9F81-A5EF22499A81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571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0" i="0">
                <a:solidFill>
                  <a:srgbClr val="7B8794"/>
                </a:solidFill>
              </a:defRPr>
            </a:pPr>
            <a:r>
              <a:rPr sz="825" b="0" i="0">
                <a:solidFill>
                  <a:srgbClr val="7B8794"/>
                </a:solidFill>
              </a:rPr>
              <a:t>Fraud prioritization  |  Executive findings  |  04</a:t>
            </a:r>
          </a:p>
        </p:txBody>
      </p:sp>
    </p:spTree>
    <p:extLst>
      <p:ext uri="{BB962C8B-B14F-4D97-AF65-F5344CB8AC3E}">
        <p14:creationId xmlns:p14="http://schemas.microsoft.com/office/powerpoint/2010/main" val="3131439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with red squares&#10;&#10;AI-generated content may be incorrect.">
            <a:extLst>
              <a:ext uri="{FF2B5EF4-FFF2-40B4-BE49-F238E27FC236}">
                <a16:creationId xmlns:a16="http://schemas.microsoft.com/office/drawing/2014/main" id="{B508A89A-3494-7CBC-3D88-06BABBA38E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68"/>
          <a:stretch>
            <a:fillRect/>
          </a:stretch>
        </p:blipFill>
        <p:spPr>
          <a:xfrm>
            <a:off x="897251" y="910856"/>
            <a:ext cx="10317596" cy="5036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228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B8F95DA0-16DD-40F6-93C4-353B5E01A09F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1565C0"/>
                </a:solidFill>
              </a:defRPr>
            </a:pPr>
            <a:r>
              <a:rPr sz="1050" b="1" i="0">
                <a:solidFill>
                  <a:srgbClr val="1565C0"/>
                </a:solidFill>
              </a:rPr>
              <a:t>1. DESCRIBE, ALIGN &amp; INVESTIGATE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E7FA15-8641-4841-9500-FC4A2F166657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75" b="1" i="0">
                <a:solidFill>
                  <a:srgbClr val="102A43"/>
                </a:solidFill>
              </a:defRPr>
            </a:pPr>
            <a:r>
              <a:rPr sz="2775" b="1" i="0">
                <a:solidFill>
                  <a:srgbClr val="102A43"/>
                </a:solidFill>
              </a:rPr>
              <a:t>ML turns rule signals into a precise review order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1239BA-9A33-4DEE-8DB9-FC745CCE5187}"/>
              </a:ext>
            </a:extLst>
          </p:cNvPr>
          <p:cNvSpPr>
            <a:spLocks noGrp="1"/>
          </p:cNvSpPr>
          <p:nvPr/>
        </p:nvSpPr>
        <p:spPr>
          <a:xfrm>
            <a:off x="685800" y="1295400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52606D"/>
                </a:solidFill>
              </a:defRPr>
            </a:pPr>
            <a:r>
              <a:rPr sz="1350" b="0" i="0">
                <a:solidFill>
                  <a:srgbClr val="52606D"/>
                </a:solidFill>
              </a:rPr>
              <a:t>The critical gap is not identifying risk patterns—it is separating the most suspicious cases within them.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4D5BD8-BE96-4631-A68B-1E241DA873B3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10820400" cy="9525"/>
          </a:xfrm>
          <a:prstGeom prst="rect">
            <a:avLst/>
          </a:prstGeom>
          <a:solidFill>
            <a:srgbClr val="D9E2EC"/>
          </a:solidFill>
          <a:ln w="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60081CC-462E-4DE9-AA19-DF7D61B5B869}"/>
              </a:ext>
            </a:extLst>
          </p:cNvPr>
          <p:cNvSpPr>
            <a:spLocks noGrp="1"/>
          </p:cNvSpPr>
          <p:nvPr/>
        </p:nvSpPr>
        <p:spPr>
          <a:xfrm>
            <a:off x="685800" y="2238375"/>
            <a:ext cx="4762500" cy="3048000"/>
          </a:xfrm>
          <a:prstGeom prst="roundRect">
            <a:avLst>
              <a:gd name="adj" fmla="val 5625"/>
            </a:avLst>
          </a:prstGeom>
          <a:solidFill>
            <a:srgbClr val="FFF7E6"/>
          </a:solidFill>
          <a:ln w="9525">
            <a:solidFill>
              <a:srgbClr val="FFF7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63026F-CF22-479C-BAB1-E36970BF1888}"/>
              </a:ext>
            </a:extLst>
          </p:cNvPr>
          <p:cNvSpPr>
            <a:spLocks noGrp="1"/>
          </p:cNvSpPr>
          <p:nvPr/>
        </p:nvSpPr>
        <p:spPr>
          <a:xfrm>
            <a:off x="990600" y="2543175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02A43"/>
                </a:solidFill>
              </a:defRPr>
            </a:pPr>
            <a:r>
              <a:rPr sz="1800" b="1" i="0">
                <a:solidFill>
                  <a:srgbClr val="102A43"/>
                </a:solidFill>
              </a:rPr>
              <a:t>Phase 1: rule-based screening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166C86-98CD-4648-8F71-D6C4EC248103}"/>
              </a:ext>
            </a:extLst>
          </p:cNvPr>
          <p:cNvSpPr>
            <a:spLocks noGrp="1"/>
          </p:cNvSpPr>
          <p:nvPr/>
        </p:nvSpPr>
        <p:spPr>
          <a:xfrm>
            <a:off x="990600" y="3095625"/>
            <a:ext cx="171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 i="0">
                <a:solidFill>
                  <a:srgbClr val="1565C0"/>
                </a:solidFill>
              </a:defRPr>
            </a:pPr>
            <a:r>
              <a:rPr sz="1500" b="1" i="0">
                <a:solidFill>
                  <a:srgbClr val="1565C0"/>
                </a:solidFill>
              </a:rPr>
              <a:t>•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8B6B43-2DE3-4B32-9A36-1AC7518B1C03}"/>
              </a:ext>
            </a:extLst>
          </p:cNvPr>
          <p:cNvSpPr>
            <a:spLocks noGrp="1"/>
          </p:cNvSpPr>
          <p:nvPr/>
        </p:nvSpPr>
        <p:spPr>
          <a:xfrm>
            <a:off x="1200150" y="3095625"/>
            <a:ext cx="3409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52606D"/>
                </a:solidFill>
              </a:defRPr>
            </a:pPr>
            <a:r>
              <a:rPr sz="1275" b="0" i="0">
                <a:solidFill>
                  <a:srgbClr val="52606D"/>
                </a:solidFill>
              </a:rPr>
              <a:t>Transparent and easy to audit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BC8CCC-EFAB-4ACF-92C4-219BB1EBC693}"/>
              </a:ext>
            </a:extLst>
          </p:cNvPr>
          <p:cNvSpPr>
            <a:spLocks noGrp="1"/>
          </p:cNvSpPr>
          <p:nvPr/>
        </p:nvSpPr>
        <p:spPr>
          <a:xfrm>
            <a:off x="990600" y="3571875"/>
            <a:ext cx="171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 i="0">
                <a:solidFill>
                  <a:srgbClr val="1565C0"/>
                </a:solidFill>
              </a:defRPr>
            </a:pPr>
            <a:r>
              <a:rPr sz="1500" b="1" i="0">
                <a:solidFill>
                  <a:srgbClr val="1565C0"/>
                </a:solidFill>
              </a:rPr>
              <a:t>•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8461BA-AD92-47EC-A54F-EA8CB13B33F9}"/>
              </a:ext>
            </a:extLst>
          </p:cNvPr>
          <p:cNvSpPr>
            <a:spLocks noGrp="1"/>
          </p:cNvSpPr>
          <p:nvPr/>
        </p:nvSpPr>
        <p:spPr>
          <a:xfrm>
            <a:off x="1200150" y="3571875"/>
            <a:ext cx="3505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52606D"/>
                </a:solidFill>
              </a:defRPr>
            </a:pPr>
            <a:r>
              <a:rPr sz="1275" b="0" i="0">
                <a:solidFill>
                  <a:srgbClr val="52606D"/>
                </a:solidFill>
              </a:rPr>
              <a:t>Flags broad patterns: type + balance empty + prior balance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7C9453-A59A-4D8F-AEDD-1B39DCBA0259}"/>
              </a:ext>
            </a:extLst>
          </p:cNvPr>
          <p:cNvSpPr>
            <a:spLocks noGrp="1"/>
          </p:cNvSpPr>
          <p:nvPr/>
        </p:nvSpPr>
        <p:spPr>
          <a:xfrm>
            <a:off x="990600" y="4238625"/>
            <a:ext cx="171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 i="0">
                <a:solidFill>
                  <a:srgbClr val="1565C0"/>
                </a:solidFill>
              </a:defRPr>
            </a:pPr>
            <a:r>
              <a:rPr sz="1500" b="1" i="0">
                <a:solidFill>
                  <a:srgbClr val="1565C0"/>
                </a:solidFill>
              </a:rPr>
              <a:t>•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E08721-836F-485B-91A9-C8B7F27DC003}"/>
              </a:ext>
            </a:extLst>
          </p:cNvPr>
          <p:cNvSpPr>
            <a:spLocks noGrp="1"/>
          </p:cNvSpPr>
          <p:nvPr/>
        </p:nvSpPr>
        <p:spPr>
          <a:xfrm>
            <a:off x="1200150" y="4238625"/>
            <a:ext cx="3505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52606D"/>
                </a:solidFill>
              </a:defRPr>
            </a:pPr>
            <a:r>
              <a:rPr sz="1275" b="0" i="0">
                <a:solidFill>
                  <a:srgbClr val="52606D"/>
                </a:solidFill>
              </a:rPr>
              <a:t>Needs an arbitrary amount-based tie-breaker inside an 18.7% alert pool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82DAAEF-8C43-4E66-BD98-79361AAC0C74}"/>
              </a:ext>
            </a:extLst>
          </p:cNvPr>
          <p:cNvSpPr>
            <a:spLocks noGrp="1"/>
          </p:cNvSpPr>
          <p:nvPr/>
        </p:nvSpPr>
        <p:spPr>
          <a:xfrm>
            <a:off x="6743700" y="2238375"/>
            <a:ext cx="4762500" cy="3048000"/>
          </a:xfrm>
          <a:prstGeom prst="roundRect">
            <a:avLst>
              <a:gd name="adj" fmla="val 5625"/>
            </a:avLst>
          </a:prstGeom>
          <a:solidFill>
            <a:srgbClr val="EAF3FF"/>
          </a:solidFill>
          <a:ln w="9525">
            <a:solidFill>
              <a:srgbClr val="EAF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692CB70-C802-455B-B927-B4A4885CEBA8}"/>
              </a:ext>
            </a:extLst>
          </p:cNvPr>
          <p:cNvSpPr>
            <a:spLocks noGrp="1"/>
          </p:cNvSpPr>
          <p:nvPr/>
        </p:nvSpPr>
        <p:spPr>
          <a:xfrm>
            <a:off x="7048500" y="2543175"/>
            <a:ext cx="3524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02A43"/>
                </a:solidFill>
              </a:defRPr>
            </a:pPr>
            <a:r>
              <a:rPr sz="1800" b="1" i="0">
                <a:solidFill>
                  <a:srgbClr val="102A43"/>
                </a:solidFill>
              </a:rPr>
              <a:t>Phase 2: AI/ML prioritization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4A639E9-1E72-4FAE-951B-25B8C7CCF468}"/>
              </a:ext>
            </a:extLst>
          </p:cNvPr>
          <p:cNvSpPr>
            <a:spLocks noGrp="1"/>
          </p:cNvSpPr>
          <p:nvPr/>
        </p:nvSpPr>
        <p:spPr>
          <a:xfrm>
            <a:off x="7048500" y="3095625"/>
            <a:ext cx="171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 i="0">
                <a:solidFill>
                  <a:srgbClr val="1565C0"/>
                </a:solidFill>
              </a:defRPr>
            </a:pPr>
            <a:r>
              <a:rPr sz="1500" b="1" i="0">
                <a:solidFill>
                  <a:srgbClr val="1565C0"/>
                </a:solidFill>
              </a:rPr>
              <a:t>•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38B8049-CA42-4515-B262-37D056853A89}"/>
              </a:ext>
            </a:extLst>
          </p:cNvPr>
          <p:cNvSpPr>
            <a:spLocks noGrp="1"/>
          </p:cNvSpPr>
          <p:nvPr/>
        </p:nvSpPr>
        <p:spPr>
          <a:xfrm>
            <a:off x="7258050" y="3095625"/>
            <a:ext cx="345757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52606D"/>
                </a:solidFill>
              </a:defRPr>
            </a:pPr>
            <a:r>
              <a:rPr sz="1275" b="0" i="0">
                <a:solidFill>
                  <a:srgbClr val="52606D"/>
                </a:solidFill>
              </a:rPr>
              <a:t>Scores the combined behavior of each transaction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7988FAB-4C18-43CF-A19C-C9AD412766AD}"/>
              </a:ext>
            </a:extLst>
          </p:cNvPr>
          <p:cNvSpPr>
            <a:spLocks noGrp="1"/>
          </p:cNvSpPr>
          <p:nvPr/>
        </p:nvSpPr>
        <p:spPr>
          <a:xfrm>
            <a:off x="7048500" y="3571875"/>
            <a:ext cx="171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 i="0">
                <a:solidFill>
                  <a:srgbClr val="1565C0"/>
                </a:solidFill>
              </a:defRPr>
            </a:pPr>
            <a:r>
              <a:rPr sz="1500" b="1" i="0">
                <a:solidFill>
                  <a:srgbClr val="1565C0"/>
                </a:solidFill>
              </a:rPr>
              <a:t>•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04A5669-9A4A-439C-81F0-BF77D35F20D9}"/>
              </a:ext>
            </a:extLst>
          </p:cNvPr>
          <p:cNvSpPr>
            <a:spLocks noGrp="1"/>
          </p:cNvSpPr>
          <p:nvPr/>
        </p:nvSpPr>
        <p:spPr>
          <a:xfrm>
            <a:off x="7258050" y="3571875"/>
            <a:ext cx="3505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52606D"/>
                </a:solidFill>
              </a:defRPr>
            </a:pPr>
            <a:r>
              <a:rPr sz="1275" b="0" i="0">
                <a:solidFill>
                  <a:srgbClr val="52606D"/>
                </a:solidFill>
              </a:rPr>
              <a:t>Ranks by calibrated P(Fraud) for the fixed top-1% queue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E482671-4BF4-401A-B786-96745E34A91A}"/>
              </a:ext>
            </a:extLst>
          </p:cNvPr>
          <p:cNvSpPr>
            <a:spLocks noGrp="1"/>
          </p:cNvSpPr>
          <p:nvPr/>
        </p:nvSpPr>
        <p:spPr>
          <a:xfrm>
            <a:off x="7048500" y="4238625"/>
            <a:ext cx="171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 i="0">
                <a:solidFill>
                  <a:srgbClr val="1565C0"/>
                </a:solidFill>
              </a:defRPr>
            </a:pPr>
            <a:r>
              <a:rPr sz="1500" b="1" i="0">
                <a:solidFill>
                  <a:srgbClr val="1565C0"/>
                </a:solidFill>
              </a:rPr>
              <a:t>•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B35581C-6B5A-4B1F-A160-0796ABF46FA7}"/>
              </a:ext>
            </a:extLst>
          </p:cNvPr>
          <p:cNvSpPr>
            <a:spLocks noGrp="1"/>
          </p:cNvSpPr>
          <p:nvPr/>
        </p:nvSpPr>
        <p:spPr>
          <a:xfrm>
            <a:off x="7258050" y="4238625"/>
            <a:ext cx="3505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52606D"/>
                </a:solidFill>
              </a:defRPr>
            </a:pPr>
            <a:r>
              <a:rPr sz="1275" b="0" i="0">
                <a:solidFill>
                  <a:srgbClr val="52606D"/>
                </a:solidFill>
              </a:rPr>
              <a:t>Improves detection without increasing investigator workload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58AA624-2E3B-47CA-AE61-DBC92259D6D5}"/>
              </a:ext>
            </a:extLst>
          </p:cNvPr>
          <p:cNvSpPr>
            <a:spLocks noGrp="1"/>
          </p:cNvSpPr>
          <p:nvPr/>
        </p:nvSpPr>
        <p:spPr>
          <a:xfrm>
            <a:off x="5657850" y="3352800"/>
            <a:ext cx="762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3750" b="1" i="0">
                <a:solidFill>
                  <a:srgbClr val="1565C0"/>
                </a:solidFill>
              </a:defRPr>
            </a:pPr>
            <a:r>
              <a:rPr sz="3750" b="1" i="0">
                <a:solidFill>
                  <a:srgbClr val="1565C0"/>
                </a:solidFill>
              </a:rPr>
              <a:t>→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23F7947-6B4A-4AAB-AB5C-466EC0FEB533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571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0" i="0">
                <a:solidFill>
                  <a:srgbClr val="7B8794"/>
                </a:solidFill>
              </a:defRPr>
            </a:pPr>
            <a:r>
              <a:rPr sz="825" b="0" i="0">
                <a:solidFill>
                  <a:srgbClr val="7B8794"/>
                </a:solidFill>
              </a:rPr>
              <a:t>Fraud prioritization  |  Executive findings  |  05</a:t>
            </a:r>
          </a:p>
        </p:txBody>
      </p:sp>
    </p:spTree>
    <p:extLst>
      <p:ext uri="{BB962C8B-B14F-4D97-AF65-F5344CB8AC3E}">
        <p14:creationId xmlns:p14="http://schemas.microsoft.com/office/powerpoint/2010/main" val="497433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DE08D7DD-CDE8-4BF9-BE7D-916A6E94C4DA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1565C0"/>
                </a:solidFill>
              </a:defRPr>
            </a:pPr>
            <a:r>
              <a:rPr sz="1050" b="1" i="0">
                <a:solidFill>
                  <a:srgbClr val="1565C0"/>
                </a:solidFill>
              </a:rPr>
              <a:t>2. SOLVE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4319B1B-B6E0-4432-932E-33070257C6C4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75" b="1" i="0">
                <a:solidFill>
                  <a:srgbClr val="102A43"/>
                </a:solidFill>
              </a:defRPr>
            </a:pPr>
            <a:r>
              <a:rPr sz="2775" b="1" i="0">
                <a:solidFill>
                  <a:srgbClr val="102A43"/>
                </a:solidFill>
              </a:rPr>
              <a:t>Model lifecycle: behavioral evidence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102D7D0-5A4F-4F35-85A8-EEBBEF4EE5ED}"/>
              </a:ext>
            </a:extLst>
          </p:cNvPr>
          <p:cNvSpPr>
            <a:spLocks noGrp="1"/>
          </p:cNvSpPr>
          <p:nvPr/>
        </p:nvSpPr>
        <p:spPr>
          <a:xfrm>
            <a:off x="685800" y="1295400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52606D"/>
                </a:solidFill>
              </a:defRPr>
            </a:pPr>
            <a:r>
              <a:rPr sz="1350" b="0" i="0">
                <a:solidFill>
                  <a:srgbClr val="52606D"/>
                </a:solidFill>
              </a:rPr>
              <a:t>We excluded raw account IDs, engineered auditable behavior features, and kept data roles clean.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94C898-9011-4189-824B-F2BD5A02A6AD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10820400" cy="9525"/>
          </a:xfrm>
          <a:prstGeom prst="rect">
            <a:avLst/>
          </a:prstGeom>
          <a:solidFill>
            <a:srgbClr val="D9E2EC"/>
          </a:solidFill>
          <a:ln w="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1279210-A33B-483B-B303-8E69863C9AB8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2381250" cy="2524125"/>
          </a:xfrm>
          <a:prstGeom prst="roundRect">
            <a:avLst>
              <a:gd name="adj" fmla="val 6400"/>
            </a:avLst>
          </a:prstGeom>
          <a:solidFill>
            <a:srgbClr val="F4F7FA"/>
          </a:solidFill>
          <a:ln w="9525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84A256-4797-42C7-8C55-3BEB69DB80F9}"/>
              </a:ext>
            </a:extLst>
          </p:cNvPr>
          <p:cNvSpPr>
            <a:spLocks noGrp="1"/>
          </p:cNvSpPr>
          <p:nvPr/>
        </p:nvSpPr>
        <p:spPr>
          <a:xfrm>
            <a:off x="876300" y="2571750"/>
            <a:ext cx="4286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250" b="1" i="0">
                <a:solidFill>
                  <a:srgbClr val="52606D"/>
                </a:solidFill>
              </a:defRPr>
            </a:pPr>
            <a:r>
              <a:rPr sz="2250" b="1" i="0">
                <a:solidFill>
                  <a:srgbClr val="52606D"/>
                </a:solidFill>
              </a:rPr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101D97-6BFB-40C8-8033-0F19F73CEFAB}"/>
              </a:ext>
            </a:extLst>
          </p:cNvPr>
          <p:cNvSpPr>
            <a:spLocks noGrp="1"/>
          </p:cNvSpPr>
          <p:nvPr/>
        </p:nvSpPr>
        <p:spPr>
          <a:xfrm>
            <a:off x="876300" y="3143250"/>
            <a:ext cx="1857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02A43"/>
                </a:solidFill>
              </a:defRPr>
            </a:pPr>
            <a:r>
              <a:rPr sz="1650" b="1" i="0">
                <a:solidFill>
                  <a:srgbClr val="102A43"/>
                </a:solidFill>
              </a:rPr>
              <a:t>Prepare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2AC61C0-9A78-4A25-8D7F-E01953565382}"/>
              </a:ext>
            </a:extLst>
          </p:cNvPr>
          <p:cNvSpPr>
            <a:spLocks noGrp="1"/>
          </p:cNvSpPr>
          <p:nvPr/>
        </p:nvSpPr>
        <p:spPr>
          <a:xfrm>
            <a:off x="876300" y="3667125"/>
            <a:ext cx="1905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52606D"/>
                </a:solidFill>
              </a:defRPr>
            </a:pPr>
            <a:r>
              <a:rPr sz="1200" b="0" i="0">
                <a:solidFill>
                  <a:srgbClr val="52606D"/>
                </a:solidFill>
              </a:rPr>
              <a:t>Target: is_fraud</a:t>
            </a:r>
          </a:p>
          <a:p>
            <a:pPr algn="l">
              <a:defRPr sz="1200" b="0" i="0">
                <a:solidFill>
                  <a:srgbClr val="52606D"/>
                </a:solidFill>
              </a:defRPr>
            </a:pPr>
            <a:r>
              <a:rPr sz="1200" b="0" i="0">
                <a:solidFill>
                  <a:srgbClr val="52606D"/>
                </a:solidFill>
              </a:rPr>
              <a:t>Exclude raw sender/recipient IDs</a:t>
            </a:r>
          </a:p>
          <a:p>
            <a:pPr algn="l">
              <a:defRPr sz="1200" b="0" i="0">
                <a:solidFill>
                  <a:srgbClr val="52606D"/>
                </a:solidFill>
              </a:defRPr>
            </a:pPr>
            <a:r>
              <a:rPr sz="1200" b="0" i="0">
                <a:solidFill>
                  <a:srgbClr val="52606D"/>
                </a:solidFill>
              </a:rPr>
              <a:t>Stratified 5-fold CV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92B93F-746B-4B7C-A2A6-2761CAD8BDBC}"/>
              </a:ext>
            </a:extLst>
          </p:cNvPr>
          <p:cNvSpPr>
            <a:spLocks noGrp="1"/>
          </p:cNvSpPr>
          <p:nvPr/>
        </p:nvSpPr>
        <p:spPr>
          <a:xfrm>
            <a:off x="3086100" y="335280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00" b="1" i="0">
                <a:solidFill>
                  <a:srgbClr val="1565C0"/>
                </a:solidFill>
              </a:defRPr>
            </a:pPr>
            <a:r>
              <a:rPr sz="1800" b="1" i="0">
                <a:solidFill>
                  <a:srgbClr val="1565C0"/>
                </a:solidFill>
              </a:rPr>
              <a:t>→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E8F6CC9-AB67-4436-9D95-931A25388BF0}"/>
              </a:ext>
            </a:extLst>
          </p:cNvPr>
          <p:cNvSpPr>
            <a:spLocks noGrp="1"/>
          </p:cNvSpPr>
          <p:nvPr/>
        </p:nvSpPr>
        <p:spPr>
          <a:xfrm>
            <a:off x="3371850" y="2381250"/>
            <a:ext cx="2381250" cy="2524125"/>
          </a:xfrm>
          <a:prstGeom prst="roundRect">
            <a:avLst>
              <a:gd name="adj" fmla="val 6400"/>
            </a:avLst>
          </a:prstGeom>
          <a:solidFill>
            <a:srgbClr val="EAF3FF"/>
          </a:solidFill>
          <a:ln w="9525">
            <a:solidFill>
              <a:srgbClr val="EAF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AFD09A-04CF-42AA-AD1C-F8607155126E}"/>
              </a:ext>
            </a:extLst>
          </p:cNvPr>
          <p:cNvSpPr>
            <a:spLocks noGrp="1"/>
          </p:cNvSpPr>
          <p:nvPr/>
        </p:nvSpPr>
        <p:spPr>
          <a:xfrm>
            <a:off x="3562350" y="2571750"/>
            <a:ext cx="4286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250" b="1" i="0">
                <a:solidFill>
                  <a:srgbClr val="1565C0"/>
                </a:solidFill>
              </a:defRPr>
            </a:pPr>
            <a:r>
              <a:rPr sz="2250" b="1" i="0">
                <a:solidFill>
                  <a:srgbClr val="1565C0"/>
                </a:solidFill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F29A9CA-6888-47DF-AFBB-4E1DCD5732ED}"/>
              </a:ext>
            </a:extLst>
          </p:cNvPr>
          <p:cNvSpPr>
            <a:spLocks noGrp="1"/>
          </p:cNvSpPr>
          <p:nvPr/>
        </p:nvSpPr>
        <p:spPr>
          <a:xfrm>
            <a:off x="3562350" y="3143250"/>
            <a:ext cx="1857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02A43"/>
                </a:solidFill>
              </a:defRPr>
            </a:pPr>
            <a:r>
              <a:rPr sz="1650" b="1" i="0">
                <a:solidFill>
                  <a:srgbClr val="102A43"/>
                </a:solidFill>
              </a:rPr>
              <a:t>Engineer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AC0DC4-5281-49FA-846C-847426F3D992}"/>
              </a:ext>
            </a:extLst>
          </p:cNvPr>
          <p:cNvSpPr>
            <a:spLocks noGrp="1"/>
          </p:cNvSpPr>
          <p:nvPr/>
        </p:nvSpPr>
        <p:spPr>
          <a:xfrm>
            <a:off x="3562350" y="3667125"/>
            <a:ext cx="1905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52606D"/>
                </a:solidFill>
              </a:defRPr>
            </a:pPr>
            <a:r>
              <a:rPr sz="1200" b="0" i="0">
                <a:solidFill>
                  <a:srgbClr val="52606D"/>
                </a:solidFill>
              </a:rPr>
              <a:t>Balance changes and errors</a:t>
            </a:r>
          </a:p>
          <a:p>
            <a:pPr algn="l">
              <a:defRPr sz="1200" b="0" i="0">
                <a:solidFill>
                  <a:srgbClr val="52606D"/>
                </a:solidFill>
              </a:defRPr>
            </a:pPr>
            <a:r>
              <a:rPr sz="1200" b="0" i="0">
                <a:solidFill>
                  <a:srgbClr val="52606D"/>
                </a:solidFill>
              </a:rPr>
              <a:t>Sender-balance-emptied</a:t>
            </a:r>
          </a:p>
          <a:p>
            <a:pPr algn="l">
              <a:defRPr sz="1200" b="0" i="0">
                <a:solidFill>
                  <a:srgbClr val="52606D"/>
                </a:solidFill>
              </a:defRPr>
            </a:pPr>
            <a:r>
              <a:rPr sz="1200" b="0" i="0">
                <a:solidFill>
                  <a:srgbClr val="52606D"/>
                </a:solidFill>
              </a:rPr>
              <a:t>Amount-to-balance ratio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23A4B4A-5CD1-4EDE-B611-1D663448D878}"/>
              </a:ext>
            </a:extLst>
          </p:cNvPr>
          <p:cNvSpPr>
            <a:spLocks noGrp="1"/>
          </p:cNvSpPr>
          <p:nvPr/>
        </p:nvSpPr>
        <p:spPr>
          <a:xfrm>
            <a:off x="5772150" y="335280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00" b="1" i="0">
                <a:solidFill>
                  <a:srgbClr val="1565C0"/>
                </a:solidFill>
              </a:defRPr>
            </a:pPr>
            <a:r>
              <a:rPr sz="1800" b="1" i="0">
                <a:solidFill>
                  <a:srgbClr val="1565C0"/>
                </a:solidFill>
              </a:rPr>
              <a:t>→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3777081C-FB63-4B86-AFA8-3EA1D990B690}"/>
              </a:ext>
            </a:extLst>
          </p:cNvPr>
          <p:cNvSpPr>
            <a:spLocks noGrp="1"/>
          </p:cNvSpPr>
          <p:nvPr/>
        </p:nvSpPr>
        <p:spPr>
          <a:xfrm>
            <a:off x="6057900" y="2381250"/>
            <a:ext cx="2381250" cy="2524125"/>
          </a:xfrm>
          <a:prstGeom prst="roundRect">
            <a:avLst>
              <a:gd name="adj" fmla="val 6400"/>
            </a:avLst>
          </a:prstGeom>
          <a:solidFill>
            <a:srgbClr val="F4F7FA"/>
          </a:solidFill>
          <a:ln w="9525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0E2BB86-02CB-4714-B0A1-C0DF7D99218E}"/>
              </a:ext>
            </a:extLst>
          </p:cNvPr>
          <p:cNvSpPr>
            <a:spLocks noGrp="1"/>
          </p:cNvSpPr>
          <p:nvPr/>
        </p:nvSpPr>
        <p:spPr>
          <a:xfrm>
            <a:off x="6248400" y="2571750"/>
            <a:ext cx="4286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250" b="1" i="0">
                <a:solidFill>
                  <a:srgbClr val="52606D"/>
                </a:solidFill>
              </a:defRPr>
            </a:pPr>
            <a:r>
              <a:rPr sz="2250" b="1" i="0">
                <a:solidFill>
                  <a:srgbClr val="52606D"/>
                </a:solidFill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C22779D-8951-4F6B-B836-BD1F0AF972FC}"/>
              </a:ext>
            </a:extLst>
          </p:cNvPr>
          <p:cNvSpPr>
            <a:spLocks noGrp="1"/>
          </p:cNvSpPr>
          <p:nvPr/>
        </p:nvSpPr>
        <p:spPr>
          <a:xfrm>
            <a:off x="6248400" y="3143250"/>
            <a:ext cx="1857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02A43"/>
                </a:solidFill>
              </a:defRPr>
            </a:pPr>
            <a:r>
              <a:rPr sz="1650" b="1" i="0">
                <a:solidFill>
                  <a:srgbClr val="102A43"/>
                </a:solidFill>
              </a:rPr>
              <a:t>Preprocess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00EBE8B-94CF-4D26-91D3-66CBE5AB4C46}"/>
              </a:ext>
            </a:extLst>
          </p:cNvPr>
          <p:cNvSpPr>
            <a:spLocks noGrp="1"/>
          </p:cNvSpPr>
          <p:nvPr/>
        </p:nvSpPr>
        <p:spPr>
          <a:xfrm>
            <a:off x="6248400" y="3667125"/>
            <a:ext cx="1905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52606D"/>
                </a:solidFill>
              </a:defRPr>
            </a:pPr>
            <a:r>
              <a:rPr sz="1200" b="0" i="0">
                <a:solidFill>
                  <a:srgbClr val="52606D"/>
                </a:solidFill>
              </a:rPr>
              <a:t>Log transforms + scaling for LR</a:t>
            </a:r>
          </a:p>
          <a:p>
            <a:pPr algn="l">
              <a:defRPr sz="1200" b="0" i="0">
                <a:solidFill>
                  <a:srgbClr val="52606D"/>
                </a:solidFill>
              </a:defRPr>
            </a:pPr>
            <a:r>
              <a:rPr sz="1200" b="0" i="0">
                <a:solidFill>
                  <a:srgbClr val="52606D"/>
                </a:solidFill>
              </a:rPr>
              <a:t>Raw monetary values for trees</a:t>
            </a:r>
          </a:p>
          <a:p>
            <a:pPr algn="l">
              <a:defRPr sz="1200" b="0" i="0">
                <a:solidFill>
                  <a:srgbClr val="52606D"/>
                </a:solidFill>
              </a:defRPr>
            </a:pPr>
            <a:r>
              <a:rPr sz="1200" b="0" i="0">
                <a:solidFill>
                  <a:srgbClr val="52606D"/>
                </a:solidFill>
              </a:rPr>
              <a:t>Transaction type encoding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926B939-FA57-4989-81DA-D5567A2BF105}"/>
              </a:ext>
            </a:extLst>
          </p:cNvPr>
          <p:cNvSpPr>
            <a:spLocks noGrp="1"/>
          </p:cNvSpPr>
          <p:nvPr/>
        </p:nvSpPr>
        <p:spPr>
          <a:xfrm>
            <a:off x="8458200" y="3352800"/>
            <a:ext cx="28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00" b="1" i="0">
                <a:solidFill>
                  <a:srgbClr val="1565C0"/>
                </a:solidFill>
              </a:defRPr>
            </a:pPr>
            <a:r>
              <a:rPr sz="1800" b="1" i="0">
                <a:solidFill>
                  <a:srgbClr val="1565C0"/>
                </a:solidFill>
              </a:rPr>
              <a:t>→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2B03A926-66CF-4BDF-BA4C-FA384B9E4900}"/>
              </a:ext>
            </a:extLst>
          </p:cNvPr>
          <p:cNvSpPr>
            <a:spLocks noGrp="1"/>
          </p:cNvSpPr>
          <p:nvPr/>
        </p:nvSpPr>
        <p:spPr>
          <a:xfrm>
            <a:off x="8743950" y="2381250"/>
            <a:ext cx="2381250" cy="2524125"/>
          </a:xfrm>
          <a:prstGeom prst="roundRect">
            <a:avLst>
              <a:gd name="adj" fmla="val 6400"/>
            </a:avLst>
          </a:prstGeom>
          <a:solidFill>
            <a:srgbClr val="F4F7FA"/>
          </a:solidFill>
          <a:ln w="9525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645ABAA-9D2B-4E68-B5C5-4F66623E1E7A}"/>
              </a:ext>
            </a:extLst>
          </p:cNvPr>
          <p:cNvSpPr>
            <a:spLocks noGrp="1"/>
          </p:cNvSpPr>
          <p:nvPr/>
        </p:nvSpPr>
        <p:spPr>
          <a:xfrm>
            <a:off x="8934450" y="2571750"/>
            <a:ext cx="4286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250" b="1" i="0">
                <a:solidFill>
                  <a:srgbClr val="52606D"/>
                </a:solidFill>
              </a:defRPr>
            </a:pPr>
            <a:r>
              <a:rPr sz="2250" b="1" i="0">
                <a:solidFill>
                  <a:srgbClr val="52606D"/>
                </a:solidFill>
              </a:rPr>
              <a:t>4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830980B-AD7B-45F0-8A16-41AF8A725CF1}"/>
              </a:ext>
            </a:extLst>
          </p:cNvPr>
          <p:cNvSpPr>
            <a:spLocks noGrp="1"/>
          </p:cNvSpPr>
          <p:nvPr/>
        </p:nvSpPr>
        <p:spPr>
          <a:xfrm>
            <a:off x="8934450" y="3143250"/>
            <a:ext cx="18573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02A43"/>
                </a:solidFill>
              </a:defRPr>
            </a:pPr>
            <a:r>
              <a:rPr sz="1650" b="1" i="0">
                <a:solidFill>
                  <a:srgbClr val="102A43"/>
                </a:solidFill>
              </a:rPr>
              <a:t>Evaluate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29878C9-7E0E-45FC-8851-DA16023D9079}"/>
              </a:ext>
            </a:extLst>
          </p:cNvPr>
          <p:cNvSpPr>
            <a:spLocks noGrp="1"/>
          </p:cNvSpPr>
          <p:nvPr/>
        </p:nvSpPr>
        <p:spPr>
          <a:xfrm>
            <a:off x="8934450" y="3667125"/>
            <a:ext cx="1905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52606D"/>
                </a:solidFill>
              </a:defRPr>
            </a:pPr>
            <a:r>
              <a:rPr sz="1200" b="0" i="0">
                <a:solidFill>
                  <a:srgbClr val="52606D"/>
                </a:solidFill>
              </a:rPr>
              <a:t>Out-of-fold predictions</a:t>
            </a:r>
          </a:p>
          <a:p>
            <a:pPr algn="l">
              <a:defRPr sz="1200" b="0" i="0">
                <a:solidFill>
                  <a:srgbClr val="52606D"/>
                </a:solidFill>
              </a:defRPr>
            </a:pPr>
            <a:r>
              <a:rPr sz="1200" b="0" i="0">
                <a:solidFill>
                  <a:srgbClr val="52606D"/>
                </a:solidFill>
              </a:rPr>
              <a:t>Technical + business metrics</a:t>
            </a:r>
          </a:p>
          <a:p>
            <a:pPr algn="l">
              <a:defRPr sz="1200" b="0" i="0">
                <a:solidFill>
                  <a:srgbClr val="52606D"/>
                </a:solidFill>
              </a:defRPr>
            </a:pPr>
            <a:r>
              <a:rPr sz="1200" b="0" i="0">
                <a:solidFill>
                  <a:srgbClr val="52606D"/>
                </a:solidFill>
              </a:rPr>
              <a:t>Top-1% capacity lens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1E005F6-2A0B-4D27-B9BF-4470604D65F9}"/>
              </a:ext>
            </a:extLst>
          </p:cNvPr>
          <p:cNvSpPr>
            <a:spLocks noGrp="1"/>
          </p:cNvSpPr>
          <p:nvPr/>
        </p:nvSpPr>
        <p:spPr>
          <a:xfrm>
            <a:off x="685800" y="5381625"/>
            <a:ext cx="1047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75" b="1" i="0">
                <a:solidFill>
                  <a:srgbClr val="102A43"/>
                </a:solidFill>
              </a:defRPr>
            </a:pPr>
            <a:r>
              <a:rPr sz="1575" b="1" i="0">
                <a:solidFill>
                  <a:srgbClr val="102A43"/>
                </a:solidFill>
              </a:rPr>
              <a:t>The data signal is behavioral—how funds move—not account identity.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37125A0-1CA7-4DAD-98C4-46B2C114BB2D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571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0" i="0">
                <a:solidFill>
                  <a:srgbClr val="7B8794"/>
                </a:solidFill>
              </a:defRPr>
            </a:pPr>
            <a:r>
              <a:rPr sz="825" b="0" i="0">
                <a:solidFill>
                  <a:srgbClr val="7B8794"/>
                </a:solidFill>
              </a:rPr>
              <a:t>Fraud prioritization  |  Executive findings  |  06</a:t>
            </a:r>
          </a:p>
        </p:txBody>
      </p:sp>
    </p:spTree>
    <p:extLst>
      <p:ext uri="{BB962C8B-B14F-4D97-AF65-F5344CB8AC3E}">
        <p14:creationId xmlns:p14="http://schemas.microsoft.com/office/powerpoint/2010/main" val="2346268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6572CB5B-26F1-4BBF-8018-E2932BF66E51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1565C0"/>
                </a:solidFill>
              </a:defRPr>
            </a:pPr>
            <a:r>
              <a:rPr sz="1050" b="1" i="0">
                <a:solidFill>
                  <a:srgbClr val="1565C0"/>
                </a:solidFill>
              </a:rPr>
              <a:t>2. SOLVE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6EDC37-8EEB-46E7-B570-76285E995E57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75" b="1" i="0">
                <a:solidFill>
                  <a:srgbClr val="102A43"/>
                </a:solidFill>
              </a:defRPr>
            </a:pPr>
            <a:r>
              <a:rPr sz="2775" b="1" i="0">
                <a:solidFill>
                  <a:srgbClr val="102A43"/>
                </a:solidFill>
              </a:rPr>
              <a:t>A simple, interpretable model won the ranking test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B32A056-F3A1-486E-9691-91821A536CE3}"/>
              </a:ext>
            </a:extLst>
          </p:cNvPr>
          <p:cNvSpPr>
            <a:spLocks noGrp="1"/>
          </p:cNvSpPr>
          <p:nvPr/>
        </p:nvSpPr>
        <p:spPr>
          <a:xfrm>
            <a:off x="685800" y="1295400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52606D"/>
                </a:solidFill>
              </a:defRPr>
            </a:pPr>
            <a:r>
              <a:rPr sz="1350" b="0" i="0">
                <a:solidFill>
                  <a:srgbClr val="52606D"/>
                </a:solidFill>
              </a:rPr>
              <a:t>Behavioral engineering made the problem close to linearly separable—so Logistic Regression edged the tree-based challengers.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E0B6C01-7320-404D-B3FC-250C19A87827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10820400" cy="9525"/>
          </a:xfrm>
          <a:prstGeom prst="rect">
            <a:avLst/>
          </a:prstGeom>
          <a:solidFill>
            <a:srgbClr val="D9E2EC"/>
          </a:solidFill>
          <a:ln w="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23DDEC5-1BC7-4C3F-8A59-264FB6B8AA36}"/>
              </a:ext>
            </a:extLst>
          </p:cNvPr>
          <p:cNvSpPr>
            <a:spLocks noGrp="1"/>
          </p:cNvSpPr>
          <p:nvPr/>
        </p:nvSpPr>
        <p:spPr>
          <a:xfrm>
            <a:off x="685800" y="2143125"/>
            <a:ext cx="6572250" cy="34290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E88CB2C-FE1D-4341-90BD-F24B97FDED84}"/>
              </a:ext>
            </a:extLst>
          </p:cNvPr>
          <p:cNvSpPr>
            <a:spLocks noGrp="1"/>
          </p:cNvSpPr>
          <p:nvPr/>
        </p:nvSpPr>
        <p:spPr>
          <a:xfrm>
            <a:off x="971550" y="2381250"/>
            <a:ext cx="476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1" i="0">
                <a:solidFill>
                  <a:srgbClr val="102A43"/>
                </a:solidFill>
              </a:defRPr>
            </a:pPr>
            <a:r>
              <a:rPr sz="1425" b="1" i="0">
                <a:solidFill>
                  <a:srgbClr val="102A43"/>
                </a:solidFill>
              </a:rPr>
              <a:t>OOF precision-recall AUC (higher is better)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="1000125" y="2857500"/>
          <a:ext cx="5715000" cy="2143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324ED66-7AF3-4430-8657-510F0AC87A7F}"/>
              </a:ext>
            </a:extLst>
          </p:cNvPr>
          <p:cNvSpPr>
            <a:spLocks noGrp="1"/>
          </p:cNvSpPr>
          <p:nvPr/>
        </p:nvSpPr>
        <p:spPr>
          <a:xfrm>
            <a:off x="7667625" y="2143125"/>
            <a:ext cx="3305175" cy="3429000"/>
          </a:xfrm>
          <a:prstGeom prst="roundRect">
            <a:avLst>
              <a:gd name="adj" fmla="val 4611"/>
            </a:avLst>
          </a:prstGeom>
          <a:solidFill>
            <a:srgbClr val="E6F7F5"/>
          </a:solidFill>
          <a:ln w="9525">
            <a:solidFill>
              <a:srgbClr val="E6F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D32C4CA-D0A7-4623-A24D-3112F3B3B3E2}"/>
              </a:ext>
            </a:extLst>
          </p:cNvPr>
          <p:cNvSpPr>
            <a:spLocks noGrp="1"/>
          </p:cNvSpPr>
          <p:nvPr/>
        </p:nvSpPr>
        <p:spPr>
          <a:xfrm>
            <a:off x="7953375" y="2438400"/>
            <a:ext cx="2333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102A43"/>
                </a:solidFill>
              </a:defRPr>
            </a:pPr>
            <a:r>
              <a:rPr sz="1650" b="1" i="0">
                <a:solidFill>
                  <a:srgbClr val="102A43"/>
                </a:solidFill>
              </a:rPr>
              <a:t>Why this model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9D0F07-97B1-4637-B317-16AECF2E746B}"/>
              </a:ext>
            </a:extLst>
          </p:cNvPr>
          <p:cNvSpPr>
            <a:spLocks noGrp="1"/>
          </p:cNvSpPr>
          <p:nvPr/>
        </p:nvSpPr>
        <p:spPr>
          <a:xfrm>
            <a:off x="7953375" y="3048000"/>
            <a:ext cx="171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 i="0">
                <a:solidFill>
                  <a:srgbClr val="1565C0"/>
                </a:solidFill>
              </a:defRPr>
            </a:pPr>
            <a:r>
              <a:rPr sz="1500" b="1" i="0">
                <a:solidFill>
                  <a:srgbClr val="1565C0"/>
                </a:solidFill>
              </a:rPr>
              <a:t>•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8459697-ECAC-4C3B-9CB1-D51ED231F42D}"/>
              </a:ext>
            </a:extLst>
          </p:cNvPr>
          <p:cNvSpPr>
            <a:spLocks noGrp="1"/>
          </p:cNvSpPr>
          <p:nvPr/>
        </p:nvSpPr>
        <p:spPr>
          <a:xfrm>
            <a:off x="8162925" y="3048000"/>
            <a:ext cx="2076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52606D"/>
                </a:solidFill>
              </a:defRPr>
            </a:pPr>
            <a:r>
              <a:rPr sz="1275" b="0" i="0">
                <a:solidFill>
                  <a:srgbClr val="52606D"/>
                </a:solidFill>
              </a:rPr>
              <a:t>Highest PR-AUC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361051-D79F-4BDD-A727-BAF97827FE90}"/>
              </a:ext>
            </a:extLst>
          </p:cNvPr>
          <p:cNvSpPr>
            <a:spLocks noGrp="1"/>
          </p:cNvSpPr>
          <p:nvPr/>
        </p:nvSpPr>
        <p:spPr>
          <a:xfrm>
            <a:off x="7953375" y="3571875"/>
            <a:ext cx="171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 i="0">
                <a:solidFill>
                  <a:srgbClr val="1565C0"/>
                </a:solidFill>
              </a:defRPr>
            </a:pPr>
            <a:r>
              <a:rPr sz="1500" b="1" i="0">
                <a:solidFill>
                  <a:srgbClr val="1565C0"/>
                </a:solidFill>
              </a:rPr>
              <a:t>•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0667BD6-17E5-4AB6-AD2F-11F02752099F}"/>
              </a:ext>
            </a:extLst>
          </p:cNvPr>
          <p:cNvSpPr>
            <a:spLocks noGrp="1"/>
          </p:cNvSpPr>
          <p:nvPr/>
        </p:nvSpPr>
        <p:spPr>
          <a:xfrm>
            <a:off x="8162925" y="3571875"/>
            <a:ext cx="2076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52606D"/>
                </a:solidFill>
              </a:defRPr>
            </a:pPr>
            <a:r>
              <a:rPr sz="1275" b="0" i="0">
                <a:solidFill>
                  <a:srgbClr val="52606D"/>
                </a:solidFill>
              </a:rPr>
              <a:t>100% Recall@1% in OOF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A368121-0D09-4751-A0E2-70C1BFEF8DDF}"/>
              </a:ext>
            </a:extLst>
          </p:cNvPr>
          <p:cNvSpPr>
            <a:spLocks noGrp="1"/>
          </p:cNvSpPr>
          <p:nvPr/>
        </p:nvSpPr>
        <p:spPr>
          <a:xfrm>
            <a:off x="7953375" y="4095750"/>
            <a:ext cx="1714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 i="0">
                <a:solidFill>
                  <a:srgbClr val="1565C0"/>
                </a:solidFill>
              </a:defRPr>
            </a:pPr>
            <a:r>
              <a:rPr sz="1500" b="1" i="0">
                <a:solidFill>
                  <a:srgbClr val="1565C0"/>
                </a:solidFill>
              </a:rPr>
              <a:t>•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D2938F0-DA8B-4E3A-B534-E703EA490AF1}"/>
              </a:ext>
            </a:extLst>
          </p:cNvPr>
          <p:cNvSpPr>
            <a:spLocks noGrp="1"/>
          </p:cNvSpPr>
          <p:nvPr/>
        </p:nvSpPr>
        <p:spPr>
          <a:xfrm>
            <a:off x="8162925" y="4095750"/>
            <a:ext cx="20764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52606D"/>
                </a:solidFill>
              </a:defRPr>
            </a:pPr>
            <a:r>
              <a:rPr sz="1275" b="0" i="0">
                <a:solidFill>
                  <a:srgbClr val="52606D"/>
                </a:solidFill>
              </a:rPr>
              <a:t>Fully interpretable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2CC376-910A-4468-9848-619CFEE4C058}"/>
              </a:ext>
            </a:extLst>
          </p:cNvPr>
          <p:cNvSpPr>
            <a:spLocks noGrp="1"/>
          </p:cNvSpPr>
          <p:nvPr/>
        </p:nvSpPr>
        <p:spPr>
          <a:xfrm>
            <a:off x="7953375" y="4667250"/>
            <a:ext cx="2476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52606D"/>
                </a:solidFill>
              </a:defRPr>
            </a:pPr>
            <a:r>
              <a:rPr sz="1200" b="0" i="0">
                <a:solidFill>
                  <a:srgbClr val="52606D"/>
                </a:solidFill>
              </a:rPr>
              <a:t>Tree models remain strong challengers if behavior becomes more nonlinear over time.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C7AB2DC-953A-4C4F-A153-A2CE1E6848CD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571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0" i="0">
                <a:solidFill>
                  <a:srgbClr val="7B8794"/>
                </a:solidFill>
              </a:defRPr>
            </a:pPr>
            <a:r>
              <a:rPr sz="825" b="0" i="0">
                <a:solidFill>
                  <a:srgbClr val="7B8794"/>
                </a:solidFill>
              </a:rPr>
              <a:t>Fraud prioritization  |  Executive findings  |  07</a:t>
            </a:r>
          </a:p>
        </p:txBody>
      </p:sp>
    </p:spTree>
    <p:extLst>
      <p:ext uri="{BB962C8B-B14F-4D97-AF65-F5344CB8AC3E}">
        <p14:creationId xmlns:p14="http://schemas.microsoft.com/office/powerpoint/2010/main" val="594273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72C6459-33BC-4DDB-8671-10EA6547D592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1565C0"/>
                </a:solidFill>
              </a:defRPr>
            </a:pPr>
            <a:r>
              <a:rPr sz="1050" b="1" i="0">
                <a:solidFill>
                  <a:srgbClr val="1565C0"/>
                </a:solidFill>
              </a:rPr>
              <a:t>2. SOLVE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B4F64FD-CADC-49CE-A5BB-591E6E76499A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75" b="1" i="0">
                <a:solidFill>
                  <a:srgbClr val="102A43"/>
                </a:solidFill>
              </a:defRPr>
            </a:pPr>
            <a:r>
              <a:rPr sz="2775" b="1" i="0">
                <a:solidFill>
                  <a:srgbClr val="102A43"/>
                </a:solidFill>
              </a:rPr>
              <a:t>Strategy A: rank by fraud probability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7FDBCCE-6CF4-411D-8074-3582EEDB86A3}"/>
              </a:ext>
            </a:extLst>
          </p:cNvPr>
          <p:cNvSpPr>
            <a:spLocks noGrp="1"/>
          </p:cNvSpPr>
          <p:nvPr/>
        </p:nvSpPr>
        <p:spPr>
          <a:xfrm>
            <a:off x="685800" y="1295400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52606D"/>
                </a:solidFill>
              </a:defRPr>
            </a:pPr>
            <a:r>
              <a:rPr sz="1350" b="0" i="0">
                <a:solidFill>
                  <a:srgbClr val="52606D"/>
                </a:solidFill>
              </a:rPr>
              <a:t>At this fraud rate and review capacity, adding transaction value did not create measurable upside.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6B36ED-6AC2-4848-B832-8ADE3321F3FD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10820400" cy="9525"/>
          </a:xfrm>
          <a:prstGeom prst="rect">
            <a:avLst/>
          </a:prstGeom>
          <a:solidFill>
            <a:srgbClr val="D9E2EC"/>
          </a:solidFill>
          <a:ln w="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41274BF-5CE9-4852-BDC5-5C0D5FB4353C}"/>
              </a:ext>
            </a:extLst>
          </p:cNvPr>
          <p:cNvSpPr>
            <a:spLocks noGrp="1"/>
          </p:cNvSpPr>
          <p:nvPr/>
        </p:nvSpPr>
        <p:spPr>
          <a:xfrm>
            <a:off x="685800" y="2190750"/>
            <a:ext cx="4619625" cy="28575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 w="9525">
            <a:solidFill>
              <a:srgbClr val="EAF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2988D8-F166-43F0-A052-D9B4C0DDAB84}"/>
              </a:ext>
            </a:extLst>
          </p:cNvPr>
          <p:cNvSpPr>
            <a:spLocks noGrp="1"/>
          </p:cNvSpPr>
          <p:nvPr/>
        </p:nvSpPr>
        <p:spPr>
          <a:xfrm>
            <a:off x="1000125" y="2505075"/>
            <a:ext cx="3143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75" b="1" i="0">
                <a:solidFill>
                  <a:srgbClr val="102A43"/>
                </a:solidFill>
              </a:defRPr>
            </a:pPr>
            <a:r>
              <a:rPr sz="1875" b="1" i="0">
                <a:solidFill>
                  <a:srgbClr val="102A43"/>
                </a:solidFill>
              </a:rPr>
              <a:t>Strategy A  |  P(Fraud)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1FDC8F-E371-4C16-A338-CC43FF7918BA}"/>
              </a:ext>
            </a:extLst>
          </p:cNvPr>
          <p:cNvSpPr>
            <a:spLocks noGrp="1"/>
          </p:cNvSpPr>
          <p:nvPr/>
        </p:nvSpPr>
        <p:spPr>
          <a:xfrm>
            <a:off x="1000125" y="29337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 i="0">
                <a:solidFill>
                  <a:srgbClr val="1565C0"/>
                </a:solidFill>
              </a:defRPr>
            </a:pPr>
            <a:r>
              <a:rPr sz="1350" b="1" i="0">
                <a:solidFill>
                  <a:srgbClr val="1565C0"/>
                </a:solidFill>
              </a:rPr>
              <a:t>Case-focused and simple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814439-95C2-4A60-BAE5-0C0C49FC0471}"/>
              </a:ext>
            </a:extLst>
          </p:cNvPr>
          <p:cNvSpPr>
            <a:spLocks noGrp="1"/>
          </p:cNvSpPr>
          <p:nvPr/>
        </p:nvSpPr>
        <p:spPr>
          <a:xfrm>
            <a:off x="1000125" y="3448050"/>
            <a:ext cx="333375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52606D"/>
                </a:solidFill>
              </a:defRPr>
            </a:pPr>
            <a:r>
              <a:rPr sz="1275" b="0" i="0">
                <a:solidFill>
                  <a:srgbClr val="52606D"/>
                </a:solidFill>
              </a:rPr>
              <a:t>Rank transaction probability directly.</a:t>
            </a:r>
          </a:p>
          <a:p>
            <a:endParaRPr sz="1275" b="0" i="0">
              <a:solidFill>
                <a:srgbClr val="52606D"/>
              </a:solidFill>
            </a:endParaRPr>
          </a:p>
          <a:p>
            <a:pPr algn="l">
              <a:defRPr sz="1275" b="0" i="0">
                <a:solidFill>
                  <a:srgbClr val="52606D"/>
                </a:solidFill>
              </a:defRPr>
            </a:pPr>
            <a:r>
              <a:rPr sz="1275" b="0" i="0">
                <a:solidFill>
                  <a:srgbClr val="52606D"/>
                </a:solidFill>
              </a:rPr>
              <a:t>OOF: 654 of 654 fraud cases captured at the top 1%.</a:t>
            </a:r>
          </a:p>
          <a:p>
            <a:endParaRPr sz="1275" b="0" i="0">
              <a:solidFill>
                <a:srgbClr val="52606D"/>
              </a:solidFill>
            </a:endParaRPr>
          </a:p>
          <a:p>
            <a:pPr algn="l">
              <a:defRPr sz="1275" b="0" i="0">
                <a:solidFill>
                  <a:srgbClr val="52606D"/>
                </a:solidFill>
              </a:defRPr>
            </a:pPr>
            <a:r>
              <a:rPr sz="1275" b="0" i="0">
                <a:solidFill>
                  <a:srgbClr val="52606D"/>
                </a:solidFill>
              </a:rPr>
              <a:t>Recommended strategy.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8C2A842-718B-47E0-90E2-18ED9EF14B9E}"/>
              </a:ext>
            </a:extLst>
          </p:cNvPr>
          <p:cNvSpPr>
            <a:spLocks noGrp="1"/>
          </p:cNvSpPr>
          <p:nvPr/>
        </p:nvSpPr>
        <p:spPr>
          <a:xfrm>
            <a:off x="5667375" y="2190750"/>
            <a:ext cx="4619625" cy="2857500"/>
          </a:xfrm>
          <a:prstGeom prst="roundRect">
            <a:avLst>
              <a:gd name="adj" fmla="val 6000"/>
            </a:avLst>
          </a:prstGeom>
          <a:solidFill>
            <a:srgbClr val="F4F7FA"/>
          </a:solidFill>
          <a:ln w="9525">
            <a:solidFill>
              <a:srgbClr val="F4F7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6EBAD41-16A9-4A16-865D-7868B83961A4}"/>
              </a:ext>
            </a:extLst>
          </p:cNvPr>
          <p:cNvSpPr>
            <a:spLocks noGrp="1"/>
          </p:cNvSpPr>
          <p:nvPr/>
        </p:nvSpPr>
        <p:spPr>
          <a:xfrm>
            <a:off x="5981700" y="2505075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 i="0">
                <a:solidFill>
                  <a:srgbClr val="102A43"/>
                </a:solidFill>
              </a:defRPr>
            </a:pPr>
            <a:r>
              <a:rPr sz="1725" b="1" i="0">
                <a:solidFill>
                  <a:srgbClr val="102A43"/>
                </a:solidFill>
              </a:rPr>
              <a:t>Strategy B  |  P(Fraud) × Amount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3E2E65-01D9-4BEF-8075-EBC96F33356C}"/>
              </a:ext>
            </a:extLst>
          </p:cNvPr>
          <p:cNvSpPr>
            <a:spLocks noGrp="1"/>
          </p:cNvSpPr>
          <p:nvPr/>
        </p:nvSpPr>
        <p:spPr>
          <a:xfrm>
            <a:off x="5981700" y="2933700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 i="0">
                <a:solidFill>
                  <a:srgbClr val="52606D"/>
                </a:solidFill>
              </a:defRPr>
            </a:pPr>
            <a:r>
              <a:rPr sz="1350" b="1" i="0">
                <a:solidFill>
                  <a:srgbClr val="52606D"/>
                </a:solidFill>
              </a:rPr>
              <a:t>Exposure-weighted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24DF4E7-29B5-4762-8A13-231BC30724CF}"/>
              </a:ext>
            </a:extLst>
          </p:cNvPr>
          <p:cNvSpPr>
            <a:spLocks noGrp="1"/>
          </p:cNvSpPr>
          <p:nvPr/>
        </p:nvSpPr>
        <p:spPr>
          <a:xfrm>
            <a:off x="5981700" y="3448050"/>
            <a:ext cx="34290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52606D"/>
                </a:solidFill>
              </a:defRPr>
            </a:pPr>
            <a:r>
              <a:rPr sz="1275" b="0" i="0">
                <a:solidFill>
                  <a:srgbClr val="52606D"/>
                </a:solidFill>
              </a:rPr>
              <a:t>No added value capture in this data regime.</a:t>
            </a:r>
          </a:p>
          <a:p>
            <a:endParaRPr sz="1275" b="0" i="0">
              <a:solidFill>
                <a:srgbClr val="52606D"/>
              </a:solidFill>
            </a:endParaRPr>
          </a:p>
          <a:p>
            <a:pPr algn="l">
              <a:defRPr sz="1275" b="0" i="0">
                <a:solidFill>
                  <a:srgbClr val="52606D"/>
                </a:solidFill>
              </a:defRPr>
            </a:pPr>
            <a:r>
              <a:rPr sz="1275" b="0" i="0">
                <a:solidFill>
                  <a:srgbClr val="52606D"/>
                </a:solidFill>
              </a:rPr>
              <a:t>OOF: 652 of 654 fraud cases at the top 1%; value recall still at ceiling.</a:t>
            </a:r>
          </a:p>
          <a:p>
            <a:endParaRPr sz="1275" b="0" i="0">
              <a:solidFill>
                <a:srgbClr val="52606D"/>
              </a:solidFill>
            </a:endParaRPr>
          </a:p>
          <a:p>
            <a:pPr algn="l">
              <a:defRPr sz="1275" b="0" i="0">
                <a:solidFill>
                  <a:srgbClr val="52606D"/>
                </a:solidFill>
              </a:defRPr>
            </a:pPr>
            <a:r>
              <a:rPr sz="1275" b="0" i="0">
                <a:solidFill>
                  <a:srgbClr val="52606D"/>
                </a:solidFill>
              </a:rPr>
              <a:t>Revisit if capacity tightens.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0B4685-CCD0-4E48-9277-B71B9E5C4432}"/>
              </a:ext>
            </a:extLst>
          </p:cNvPr>
          <p:cNvSpPr>
            <a:spLocks noGrp="1"/>
          </p:cNvSpPr>
          <p:nvPr/>
        </p:nvSpPr>
        <p:spPr>
          <a:xfrm>
            <a:off x="685800" y="5467350"/>
            <a:ext cx="1028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 i="0">
                <a:solidFill>
                  <a:srgbClr val="102A43"/>
                </a:solidFill>
              </a:defRPr>
            </a:pPr>
            <a:r>
              <a:rPr sz="1500" b="1" i="0">
                <a:solidFill>
                  <a:srgbClr val="102A43"/>
                </a:solidFill>
              </a:rPr>
              <a:t>Same 1% investigation queue  •  Strategy A wins on simplicity and case recall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F626711-428C-4101-85C4-4F2505FBD545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571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0" i="0">
                <a:solidFill>
                  <a:srgbClr val="7B8794"/>
                </a:solidFill>
              </a:defRPr>
            </a:pPr>
            <a:r>
              <a:rPr sz="825" b="0" i="0">
                <a:solidFill>
                  <a:srgbClr val="7B8794"/>
                </a:solidFill>
              </a:rPr>
              <a:t>Fraud prioritization  |  Executive findings  |  08</a:t>
            </a:r>
          </a:p>
        </p:txBody>
      </p:sp>
    </p:spTree>
    <p:extLst>
      <p:ext uri="{BB962C8B-B14F-4D97-AF65-F5344CB8AC3E}">
        <p14:creationId xmlns:p14="http://schemas.microsoft.com/office/powerpoint/2010/main" val="8257211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E5441B9D-FAB5-4A60-944C-08D787DAD58C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1565C0"/>
                </a:solidFill>
              </a:defRPr>
            </a:pPr>
            <a:r>
              <a:rPr sz="1050" b="1" i="0">
                <a:solidFill>
                  <a:srgbClr val="1565C0"/>
                </a:solidFill>
              </a:rPr>
              <a:t>3. SUSTAIN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962DBDC-228B-4A75-B276-30A7981893F8}"/>
              </a:ext>
            </a:extLst>
          </p:cNvPr>
          <p:cNvSpPr>
            <a:spLocks noGrp="1"/>
          </p:cNvSpPr>
          <p:nvPr/>
        </p:nvSpPr>
        <p:spPr>
          <a:xfrm>
            <a:off x="685800" y="723900"/>
            <a:ext cx="108204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775" b="1" i="0">
                <a:solidFill>
                  <a:srgbClr val="102A43"/>
                </a:solidFill>
              </a:defRPr>
            </a:pPr>
            <a:r>
              <a:rPr sz="2775" b="1" i="0">
                <a:solidFill>
                  <a:srgbClr val="102A43"/>
                </a:solidFill>
              </a:rPr>
              <a:t>Stage the rollout from guardrails to a learning hybrid system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25FEEFB-1EE8-46FC-9446-6096C6B9A764}"/>
              </a:ext>
            </a:extLst>
          </p:cNvPr>
          <p:cNvSpPr>
            <a:spLocks noGrp="1"/>
          </p:cNvSpPr>
          <p:nvPr/>
        </p:nvSpPr>
        <p:spPr>
          <a:xfrm>
            <a:off x="685800" y="1295400"/>
            <a:ext cx="10287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52606D"/>
                </a:solidFill>
              </a:defRPr>
            </a:pPr>
            <a:r>
              <a:rPr sz="1350" b="0" i="0">
                <a:solidFill>
                  <a:srgbClr val="52606D"/>
                </a:solidFill>
              </a:rPr>
              <a:t>Use the rule as a controlled fallback while ML gains operational trust and new feedback compounds value.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55BA9F-0E14-40E3-A8C0-7C238E9D27F0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10820400" cy="9525"/>
          </a:xfrm>
          <a:prstGeom prst="rect">
            <a:avLst/>
          </a:prstGeom>
          <a:solidFill>
            <a:srgbClr val="D9E2EC"/>
          </a:solidFill>
          <a:ln w="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FEE9D03-554D-42FF-AD9A-09D5F7CDFF3D}"/>
              </a:ext>
            </a:extLst>
          </p:cNvPr>
          <p:cNvSpPr>
            <a:spLocks noGrp="1"/>
          </p:cNvSpPr>
          <p:nvPr/>
        </p:nvSpPr>
        <p:spPr>
          <a:xfrm>
            <a:off x="1476375" y="2381250"/>
            <a:ext cx="8763000" cy="28575"/>
          </a:xfrm>
          <a:prstGeom prst="rect">
            <a:avLst/>
          </a:prstGeom>
          <a:solidFill>
            <a:srgbClr val="D9E2EC"/>
          </a:solidFill>
          <a:ln w="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DCAA713-3CC2-417D-AEE1-896A59D74F70}"/>
              </a:ext>
            </a:extLst>
          </p:cNvPr>
          <p:cNvSpPr>
            <a:spLocks noGrp="1"/>
          </p:cNvSpPr>
          <p:nvPr/>
        </p:nvSpPr>
        <p:spPr>
          <a:xfrm>
            <a:off x="1924050" y="2286000"/>
            <a:ext cx="219075" cy="219075"/>
          </a:xfrm>
          <a:prstGeom prst="ellipse">
            <a:avLst/>
          </a:prstGeom>
          <a:solidFill>
            <a:srgbClr val="B7791F"/>
          </a:solidFill>
          <a:ln w="0">
            <a:solidFill>
              <a:srgbClr val="B779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6851D67-EB95-42BF-999F-52BBA4CFB707}"/>
              </a:ext>
            </a:extLst>
          </p:cNvPr>
          <p:cNvSpPr>
            <a:spLocks noGrp="1"/>
          </p:cNvSpPr>
          <p:nvPr/>
        </p:nvSpPr>
        <p:spPr>
          <a:xfrm>
            <a:off x="5429250" y="2286000"/>
            <a:ext cx="219075" cy="219075"/>
          </a:xfrm>
          <a:prstGeom prst="ellipse">
            <a:avLst/>
          </a:prstGeom>
          <a:solidFill>
            <a:srgbClr val="1565C0"/>
          </a:solidFill>
          <a:ln w="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7F8C862-EA92-4CA1-AB5D-D18C85009D44}"/>
              </a:ext>
            </a:extLst>
          </p:cNvPr>
          <p:cNvSpPr>
            <a:spLocks noGrp="1"/>
          </p:cNvSpPr>
          <p:nvPr/>
        </p:nvSpPr>
        <p:spPr>
          <a:xfrm>
            <a:off x="8934450" y="2286000"/>
            <a:ext cx="219075" cy="219075"/>
          </a:xfrm>
          <a:prstGeom prst="ellipse">
            <a:avLst/>
          </a:prstGeom>
          <a:solidFill>
            <a:srgbClr val="0F766E"/>
          </a:solidFill>
          <a:ln w="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EA2500E-3058-4538-B76B-7F04FE5426E4}"/>
              </a:ext>
            </a:extLst>
          </p:cNvPr>
          <p:cNvSpPr>
            <a:spLocks noGrp="1"/>
          </p:cNvSpPr>
          <p:nvPr/>
        </p:nvSpPr>
        <p:spPr>
          <a:xfrm>
            <a:off x="685800" y="2762250"/>
            <a:ext cx="3143250" cy="247650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E3AFFB0-421E-4CF3-9627-BF51456C4C32}"/>
              </a:ext>
            </a:extLst>
          </p:cNvPr>
          <p:cNvSpPr>
            <a:spLocks noGrp="1"/>
          </p:cNvSpPr>
          <p:nvPr/>
        </p:nvSpPr>
        <p:spPr>
          <a:xfrm>
            <a:off x="857250" y="2933700"/>
            <a:ext cx="819150" cy="285750"/>
          </a:xfrm>
          <a:prstGeom prst="roundRect">
            <a:avLst>
              <a:gd name="adj" fmla="val 50000"/>
            </a:avLst>
          </a:prstGeom>
          <a:solidFill>
            <a:srgbClr val="FFF7E6"/>
          </a:solidFill>
          <a:ln w="9525">
            <a:solidFill>
              <a:srgbClr val="FFF7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55CEBF-B628-4DD8-B43A-6CB3DD0FD5D7}"/>
              </a:ext>
            </a:extLst>
          </p:cNvPr>
          <p:cNvSpPr>
            <a:spLocks noGrp="1"/>
          </p:cNvSpPr>
          <p:nvPr/>
        </p:nvSpPr>
        <p:spPr>
          <a:xfrm>
            <a:off x="962025" y="2990850"/>
            <a:ext cx="619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00" b="1" i="0">
                <a:solidFill>
                  <a:srgbClr val="B7791F"/>
                </a:solidFill>
              </a:defRPr>
            </a:pPr>
            <a:r>
              <a:rPr sz="900" b="1" i="0" dirty="0">
                <a:solidFill>
                  <a:srgbClr val="B7791F"/>
                </a:solidFill>
              </a:rPr>
              <a:t>PHASE 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F01091-5005-466D-BC4E-5FB6137D2E9B}"/>
              </a:ext>
            </a:extLst>
          </p:cNvPr>
          <p:cNvSpPr>
            <a:spLocks noGrp="1"/>
          </p:cNvSpPr>
          <p:nvPr/>
        </p:nvSpPr>
        <p:spPr>
          <a:xfrm>
            <a:off x="876300" y="3429000"/>
            <a:ext cx="2762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02A43"/>
                </a:solidFill>
              </a:defRPr>
            </a:pPr>
            <a:r>
              <a:rPr sz="1800" b="1" i="0">
                <a:solidFill>
                  <a:srgbClr val="102A43"/>
                </a:solidFill>
              </a:rPr>
              <a:t>Instrument &amp; validate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E6DC92-630C-48BD-8FA9-65189C52987F}"/>
              </a:ext>
            </a:extLst>
          </p:cNvPr>
          <p:cNvSpPr>
            <a:spLocks noGrp="1"/>
          </p:cNvSpPr>
          <p:nvPr/>
        </p:nvSpPr>
        <p:spPr>
          <a:xfrm>
            <a:off x="876300" y="4048125"/>
            <a:ext cx="27622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52606D"/>
                </a:solidFill>
              </a:defRPr>
            </a:pPr>
            <a:r>
              <a:rPr sz="1200" b="0" i="0">
                <a:solidFill>
                  <a:srgbClr val="52606D"/>
                </a:solidFill>
              </a:rPr>
              <a:t>Lock the top-1% queue definition. Establish Phase 1 rule as a sanity check/fallback. Confirm investigator workflow and success metrics.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0743104-47FA-47CB-9979-F8520758DAB3}"/>
              </a:ext>
            </a:extLst>
          </p:cNvPr>
          <p:cNvSpPr>
            <a:spLocks noGrp="1"/>
          </p:cNvSpPr>
          <p:nvPr/>
        </p:nvSpPr>
        <p:spPr>
          <a:xfrm>
            <a:off x="4524375" y="2762250"/>
            <a:ext cx="3143250" cy="247650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905973EE-9A17-44DB-AC51-EB775704E6A4}"/>
              </a:ext>
            </a:extLst>
          </p:cNvPr>
          <p:cNvSpPr>
            <a:spLocks noGrp="1"/>
          </p:cNvSpPr>
          <p:nvPr/>
        </p:nvSpPr>
        <p:spPr>
          <a:xfrm>
            <a:off x="4695825" y="2933700"/>
            <a:ext cx="819150" cy="285750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9525">
            <a:solidFill>
              <a:srgbClr val="EAF3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2DC673D-1A9E-49F6-A5DF-9611CFDB4775}"/>
              </a:ext>
            </a:extLst>
          </p:cNvPr>
          <p:cNvSpPr>
            <a:spLocks noGrp="1"/>
          </p:cNvSpPr>
          <p:nvPr/>
        </p:nvSpPr>
        <p:spPr>
          <a:xfrm>
            <a:off x="4800600" y="2990850"/>
            <a:ext cx="619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00" b="1" i="0">
                <a:solidFill>
                  <a:srgbClr val="1565C0"/>
                </a:solidFill>
              </a:defRPr>
            </a:pPr>
            <a:r>
              <a:rPr sz="900" b="1" i="0" dirty="0">
                <a:solidFill>
                  <a:srgbClr val="1565C0"/>
                </a:solidFill>
              </a:rPr>
              <a:t>PHASE 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62EA1A6-744F-4334-9AC3-AE6056960AEE}"/>
              </a:ext>
            </a:extLst>
          </p:cNvPr>
          <p:cNvSpPr>
            <a:spLocks noGrp="1"/>
          </p:cNvSpPr>
          <p:nvPr/>
        </p:nvSpPr>
        <p:spPr>
          <a:xfrm>
            <a:off x="4714875" y="3429000"/>
            <a:ext cx="2762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02A43"/>
                </a:solidFill>
              </a:defRPr>
            </a:pPr>
            <a:r>
              <a:rPr sz="1800" b="1" i="0" dirty="0">
                <a:solidFill>
                  <a:srgbClr val="102A43"/>
                </a:solidFill>
              </a:rPr>
              <a:t>Deploy in real time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E35DAEF-A744-4351-B3E6-18A92A9A14EB}"/>
              </a:ext>
            </a:extLst>
          </p:cNvPr>
          <p:cNvSpPr>
            <a:spLocks noGrp="1"/>
          </p:cNvSpPr>
          <p:nvPr/>
        </p:nvSpPr>
        <p:spPr>
          <a:xfrm>
            <a:off x="4714875" y="4048125"/>
            <a:ext cx="27622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52606D"/>
                </a:solidFill>
              </a:defRPr>
            </a:pPr>
            <a:r>
              <a:rPr sz="1200" b="0" i="0">
                <a:solidFill>
                  <a:srgbClr val="52606D"/>
                </a:solidFill>
              </a:rPr>
              <a:t>Operationalize Logistic Regression + Strategy A. Feed the ranked queue to investigators; monitor recall, reviews per fraud, queue latency, and exceptions.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D50A59F7-5834-4EB7-B587-A89720AFF012}"/>
              </a:ext>
            </a:extLst>
          </p:cNvPr>
          <p:cNvSpPr>
            <a:spLocks noGrp="1"/>
          </p:cNvSpPr>
          <p:nvPr/>
        </p:nvSpPr>
        <p:spPr>
          <a:xfrm>
            <a:off x="8362950" y="2762250"/>
            <a:ext cx="3143250" cy="247650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287B21E9-24AC-408B-8523-51F6D9DFE6C0}"/>
              </a:ext>
            </a:extLst>
          </p:cNvPr>
          <p:cNvSpPr>
            <a:spLocks noGrp="1"/>
          </p:cNvSpPr>
          <p:nvPr/>
        </p:nvSpPr>
        <p:spPr>
          <a:xfrm>
            <a:off x="8534400" y="2933700"/>
            <a:ext cx="819150" cy="285750"/>
          </a:xfrm>
          <a:prstGeom prst="roundRect">
            <a:avLst>
              <a:gd name="adj" fmla="val 50000"/>
            </a:avLst>
          </a:prstGeom>
          <a:solidFill>
            <a:srgbClr val="E6F7F5"/>
          </a:solidFill>
          <a:ln w="9525">
            <a:solidFill>
              <a:srgbClr val="E6F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F89357A-0281-4DCD-B72D-8005016C6EE5}"/>
              </a:ext>
            </a:extLst>
          </p:cNvPr>
          <p:cNvSpPr>
            <a:spLocks noGrp="1"/>
          </p:cNvSpPr>
          <p:nvPr/>
        </p:nvSpPr>
        <p:spPr>
          <a:xfrm>
            <a:off x="8639175" y="2990850"/>
            <a:ext cx="619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00" b="1" i="0">
                <a:solidFill>
                  <a:srgbClr val="0F766E"/>
                </a:solidFill>
              </a:defRPr>
            </a:pPr>
            <a:r>
              <a:rPr sz="900" b="1" i="0" dirty="0">
                <a:solidFill>
                  <a:srgbClr val="0F766E"/>
                </a:solidFill>
              </a:rPr>
              <a:t>PHASE 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A1740C-E35D-4F40-AE7B-AB6609B0D981}"/>
              </a:ext>
            </a:extLst>
          </p:cNvPr>
          <p:cNvSpPr>
            <a:spLocks noGrp="1"/>
          </p:cNvSpPr>
          <p:nvPr/>
        </p:nvSpPr>
        <p:spPr>
          <a:xfrm>
            <a:off x="8553450" y="3429000"/>
            <a:ext cx="2762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800" b="1" i="0">
                <a:solidFill>
                  <a:srgbClr val="102A43"/>
                </a:solidFill>
              </a:defRPr>
            </a:pPr>
            <a:r>
              <a:rPr sz="1800" b="1" i="0">
                <a:solidFill>
                  <a:srgbClr val="102A43"/>
                </a:solidFill>
              </a:rPr>
              <a:t>Learn with feedback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53525E-3773-4495-9A0A-A3D474EDD8D5}"/>
              </a:ext>
            </a:extLst>
          </p:cNvPr>
          <p:cNvSpPr>
            <a:spLocks noGrp="1"/>
          </p:cNvSpPr>
          <p:nvPr/>
        </p:nvSpPr>
        <p:spPr>
          <a:xfrm>
            <a:off x="8553450" y="4048125"/>
            <a:ext cx="2762250" cy="933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52606D"/>
                </a:solidFill>
              </a:defRPr>
            </a:pPr>
            <a:r>
              <a:rPr sz="1200" b="0" i="0">
                <a:solidFill>
                  <a:srgbClr val="52606D"/>
                </a:solidFill>
              </a:rPr>
              <a:t>Adopt the hybrid control system: Rules + ML + investigator feedback. Retrain on new labels, test challengers, and tune thresholds as capacity changes.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E83F3ED-D442-4FAF-B58E-74AB62B6E3BA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571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825" b="0" i="0">
                <a:solidFill>
                  <a:srgbClr val="7B8794"/>
                </a:solidFill>
              </a:defRPr>
            </a:pPr>
            <a:r>
              <a:rPr sz="825" b="0" i="0">
                <a:solidFill>
                  <a:srgbClr val="7B8794"/>
                </a:solidFill>
              </a:rPr>
              <a:t>Fraud prioritization  |  Executive findings  |  10</a:t>
            </a:r>
          </a:p>
        </p:txBody>
      </p:sp>
    </p:spTree>
    <p:extLst>
      <p:ext uri="{BB962C8B-B14F-4D97-AF65-F5344CB8AC3E}">
        <p14:creationId xmlns:p14="http://schemas.microsoft.com/office/powerpoint/2010/main" val="18468338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853F491-10B0-4526-BAAE-A1D10100C2F9}"/>
              </a:ext>
            </a:extLst>
          </p:cNvPr>
          <p:cNvSpPr>
            <a:spLocks noGrp="1"/>
          </p:cNvSpPr>
          <p:nvPr/>
        </p:nvSpPr>
        <p:spPr>
          <a:xfrm>
            <a:off x="685800" y="628650"/>
            <a:ext cx="3810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1565C0"/>
                </a:solidFill>
              </a:defRPr>
            </a:pPr>
            <a:r>
              <a:rPr sz="1050" b="1" i="0">
                <a:solidFill>
                  <a:srgbClr val="1565C0"/>
                </a:solidFill>
              </a:rPr>
              <a:t>ONE RECOMMENDATION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B90F7BD-0602-4DE2-84B9-8D7DEFD446C6}"/>
              </a:ext>
            </a:extLst>
          </p:cNvPr>
          <p:cNvSpPr>
            <a:spLocks noGrp="1"/>
          </p:cNvSpPr>
          <p:nvPr/>
        </p:nvSpPr>
        <p:spPr>
          <a:xfrm>
            <a:off x="685800" y="1162050"/>
            <a:ext cx="76200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375" b="1" i="0">
                <a:solidFill>
                  <a:srgbClr val="102A43"/>
                </a:solidFill>
              </a:defRPr>
            </a:pPr>
            <a:r>
              <a:rPr sz="3375" b="1" i="0">
                <a:solidFill>
                  <a:srgbClr val="102A43"/>
                </a:solidFill>
              </a:rPr>
              <a:t>Approve a real-time rollout of</a:t>
            </a:r>
          </a:p>
          <a:p>
            <a:pPr algn="l">
              <a:defRPr sz="3375" b="1" i="0">
                <a:solidFill>
                  <a:srgbClr val="102A43"/>
                </a:solidFill>
              </a:defRPr>
            </a:pPr>
            <a:r>
              <a:rPr sz="3375" b="1" i="0">
                <a:solidFill>
                  <a:srgbClr val="102A43"/>
                </a:solidFill>
              </a:rPr>
              <a:t>Logistic Regression + Strategy A.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0518FF-16FA-42BF-ADD3-0D4010E983A5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6953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75" b="0" i="0">
                <a:solidFill>
                  <a:srgbClr val="52606D"/>
                </a:solidFill>
              </a:defRPr>
            </a:pPr>
            <a:r>
              <a:rPr sz="1575" b="0" i="0">
                <a:solidFill>
                  <a:srgbClr val="52606D"/>
                </a:solidFill>
              </a:rPr>
              <a:t>The case is compelling: materially more fraud captured, materially fewer investigations wasted, and an interpretable model that is straightforward to deploy and monitor.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C949FE9-4FAF-4E80-9A8E-3D120CACB182}"/>
              </a:ext>
            </a:extLst>
          </p:cNvPr>
          <p:cNvSpPr>
            <a:spLocks noGrp="1"/>
          </p:cNvSpPr>
          <p:nvPr/>
        </p:nvSpPr>
        <p:spPr>
          <a:xfrm>
            <a:off x="685800" y="4000500"/>
            <a:ext cx="7524750" cy="1571625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E1A650-AE6E-4FE5-A22E-9703BBC07793}"/>
              </a:ext>
            </a:extLst>
          </p:cNvPr>
          <p:cNvSpPr>
            <a:spLocks noGrp="1"/>
          </p:cNvSpPr>
          <p:nvPr/>
        </p:nvSpPr>
        <p:spPr>
          <a:xfrm>
            <a:off x="990600" y="4286250"/>
            <a:ext cx="1809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1" i="0">
                <a:solidFill>
                  <a:srgbClr val="1565C0"/>
                </a:solidFill>
              </a:defRPr>
            </a:pPr>
            <a:r>
              <a:rPr sz="1425" b="1" i="0">
                <a:solidFill>
                  <a:srgbClr val="1565C0"/>
                </a:solidFill>
              </a:rPr>
              <a:t>Decision gate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CE5285-C82E-4C27-BA48-2223A0C29047}"/>
              </a:ext>
            </a:extLst>
          </p:cNvPr>
          <p:cNvSpPr>
            <a:spLocks noGrp="1"/>
          </p:cNvSpPr>
          <p:nvPr/>
        </p:nvSpPr>
        <p:spPr>
          <a:xfrm>
            <a:off x="990600" y="4667250"/>
            <a:ext cx="6810375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1" i="0">
                <a:solidFill>
                  <a:srgbClr val="102A43"/>
                </a:solidFill>
              </a:defRPr>
            </a:pPr>
            <a:r>
              <a:rPr sz="1425" b="1" i="0">
                <a:solidFill>
                  <a:srgbClr val="102A43"/>
                </a:solidFill>
              </a:rPr>
              <a:t>Launch the probability-ranked top-1% queue, preserve rule-based guardrails, and use investigator outcomes to improve the hybrid system over time.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47C2C34-EAD1-459C-B469-076DB2C86E46}"/>
              </a:ext>
            </a:extLst>
          </p:cNvPr>
          <p:cNvSpPr>
            <a:spLocks noGrp="1"/>
          </p:cNvSpPr>
          <p:nvPr/>
        </p:nvSpPr>
        <p:spPr>
          <a:xfrm>
            <a:off x="8810625" y="952500"/>
            <a:ext cx="2286000" cy="4191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F5A755-A567-48E1-9124-A79283A9CD80}"/>
              </a:ext>
            </a:extLst>
          </p:cNvPr>
          <p:cNvSpPr>
            <a:spLocks noGrp="1"/>
          </p:cNvSpPr>
          <p:nvPr/>
        </p:nvSpPr>
        <p:spPr>
          <a:xfrm>
            <a:off x="9096375" y="1666875"/>
            <a:ext cx="1714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3900" b="1" i="0">
                <a:solidFill>
                  <a:srgbClr val="0F766E"/>
                </a:solidFill>
              </a:defRPr>
            </a:pPr>
            <a:r>
              <a:rPr sz="3900" b="1" i="0">
                <a:solidFill>
                  <a:srgbClr val="0F766E"/>
                </a:solidFill>
              </a:rPr>
              <a:t>98.8%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D6A801-EDEF-48A4-89FB-0FBE95574448}"/>
              </a:ext>
            </a:extLst>
          </p:cNvPr>
          <p:cNvSpPr>
            <a:spLocks noGrp="1"/>
          </p:cNvSpPr>
          <p:nvPr/>
        </p:nvSpPr>
        <p:spPr>
          <a:xfrm>
            <a:off x="9096375" y="2400300"/>
            <a:ext cx="1714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 i="0">
                <a:solidFill>
                  <a:srgbClr val="102A43"/>
                </a:solidFill>
              </a:defRPr>
            </a:pPr>
            <a:r>
              <a:rPr sz="1350" b="1" i="0">
                <a:solidFill>
                  <a:srgbClr val="102A43"/>
                </a:solidFill>
              </a:rPr>
              <a:t>of fraud cases caught</a:t>
            </a:r>
          </a:p>
          <a:p>
            <a:pPr algn="ctr">
              <a:defRPr sz="1350" b="1" i="0">
                <a:solidFill>
                  <a:srgbClr val="102A43"/>
                </a:solidFill>
              </a:defRPr>
            </a:pPr>
            <a:r>
              <a:rPr sz="1350" b="1" i="0">
                <a:solidFill>
                  <a:srgbClr val="102A43"/>
                </a:solidFill>
              </a:rPr>
              <a:t>in held-out testing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EAECA0-64E1-4CB3-81A1-1007874F5D1D}"/>
              </a:ext>
            </a:extLst>
          </p:cNvPr>
          <p:cNvSpPr>
            <a:spLocks noGrp="1"/>
          </p:cNvSpPr>
          <p:nvPr/>
        </p:nvSpPr>
        <p:spPr>
          <a:xfrm>
            <a:off x="9163050" y="3238500"/>
            <a:ext cx="1571625" cy="9525"/>
          </a:xfrm>
          <a:prstGeom prst="rect">
            <a:avLst/>
          </a:prstGeom>
          <a:solidFill>
            <a:srgbClr val="D9E2EC"/>
          </a:solidFill>
          <a:ln w="0">
            <a:solidFill>
              <a:srgbClr val="D9E2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A97846A-08B3-446D-8A2E-4C2CBC93CE0F}"/>
              </a:ext>
            </a:extLst>
          </p:cNvPr>
          <p:cNvSpPr>
            <a:spLocks noGrp="1"/>
          </p:cNvSpPr>
          <p:nvPr/>
        </p:nvSpPr>
        <p:spPr>
          <a:xfrm>
            <a:off x="9096375" y="3571875"/>
            <a:ext cx="17145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875" b="1" i="0">
                <a:solidFill>
                  <a:srgbClr val="1565C0"/>
                </a:solidFill>
              </a:defRPr>
            </a:pPr>
            <a:r>
              <a:rPr sz="1875" b="1" i="0">
                <a:solidFill>
                  <a:srgbClr val="1565C0"/>
                </a:solidFill>
              </a:rPr>
              <a:t>1%</a:t>
            </a:r>
          </a:p>
          <a:p>
            <a:pPr algn="ctr">
              <a:defRPr sz="1875" b="1" i="0">
                <a:solidFill>
                  <a:srgbClr val="1565C0"/>
                </a:solidFill>
              </a:defRPr>
            </a:pPr>
            <a:r>
              <a:rPr sz="1875" b="1" i="0">
                <a:solidFill>
                  <a:srgbClr val="1565C0"/>
                </a:solidFill>
              </a:rPr>
              <a:t>review capacity</a:t>
            </a:r>
          </a:p>
        </p:txBody>
      </p:sp>
    </p:spTree>
    <p:extLst>
      <p:ext uri="{BB962C8B-B14F-4D97-AF65-F5344CB8AC3E}">
        <p14:creationId xmlns:p14="http://schemas.microsoft.com/office/powerpoint/2010/main" val="67856125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1473</Words>
  <Application>Microsoft Macintosh PowerPoint</Application>
  <DocSecurity>0</DocSecurity>
  <PresentationFormat>Widescreen</PresentationFormat>
  <Paragraphs>174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Yiling Zheng</cp:lastModifiedBy>
  <cp:revision>1</cp:revision>
  <dcterms:created xsi:type="dcterms:W3CDTF">2026-08-15T20:35:55Z</dcterms:created>
  <dcterms:modified xsi:type="dcterms:W3CDTF">2026-08-15T20:40:01Z</dcterms:modified>
</cp:coreProperties>
</file>